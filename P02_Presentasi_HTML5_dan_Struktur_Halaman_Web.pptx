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an" id="{cac3a905-d499-bf6c-5894-0f83769afdb0}">
          <p14:sldIdLst>
            <p14:sldId id="256"/>
          </p14:sldIdLst>
        </p14:section>
        <p14:section name="Dasar HTML" id="{43da2c92-ce2f-87aa-f1b0-3c43e6a8d26d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Form dan Semantik" id="{8cd9d028-d322-3127-5ff7-05f46394e489}">
          <p14:sldIdLst>
            <p14:sldId id="263"/>
            <p14:sldId id="264"/>
            <p14:sldId id="265"/>
            <p14:sldId id="266"/>
            <p14:sldId id="267"/>
          </p14:sldIdLst>
        </p14:section>
        <p14:section name="Penutup" id="{b080ce90-3989-7989-cfd5-216c39af13fb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Ulas singkat Pertemuan 1 (HTTP dan lingkungan kerja), lalu perkenalkan tujuan hari ini: membangun situs profil tiga halaman dengan HTML5.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tiga capaian. Tekankan bahwa HTML adalah tentang makna dan struktur, bukan tampilan.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HTML bukan bahasa pemrograman; ia adalah bahasa penanda. Tunjukkan anatomi elemen pada contoh tautan.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Peragakan menulis kerangka ini dari nol di VS Code. Ketik !, lalu Tab, untuk memakai potongan kode Emmet.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memilih elemen berdasarkan makna: strong berarti penting, bukan sekadar tebal.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path relatif: ../ naik satu folder. Tekankan alt wajib untuk aksesibilitas.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 hanya untuk data tabular, bukan untuk mengatur tata letak halaman. Tunjukkan colspan dan rowspan di VS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perbedaan keyboard seluler pada email, number, dan tel. Tekankan bahwa validasi browser hanya kemudahan; validasi sebenarnya di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Demonstrasikan: hapus atribut name lalu kirim form dan lihat payload di DevTools. Hubungkan dengan HTTP request dari Pertemuan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Gambarkan wireframe ini di papan tulis. Tanyakan: bagian mana yang dibaca pertama oleh pembaca layar?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Manfaat: SEO, aksesibilitas, dan keterbacaan kode. div tetap dipakai sebagai pembungkus generik untuk keperluan 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Lighthouse di Chrome DevTools dan validator.w3.org. Minta mahasiswa mencatat skor sebelum dan sesudah perbaikan.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Arahkan mahasiswa ke modul praktikum Pertemuan 2. Pengumpulan: laporan dan tautan GitHub sebelum pertemuan berikutnya.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Kuis cepat lisan: apa fungsi atribut name pada input? Mengapa alt wajib? Sebutkan tiga elemen semantik. Umumkan tugas dan tenggat.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371600"/>
            <a:ext cx="47548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017520"/>
            <a:ext cx="47548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Pemrograman Web · Pertemuan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3716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HTML5 dan Struktur Halaman Web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0175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Pertemuan 2 · Dokumen, teks, tabel, form, dan elemen semantik</a:t>
            </a:r>
            <a:endParaRPr lang="en-US" sz="1600" dirty="0"/>
          </a:p>
        </p:txBody>
      </p:sp>
      <p:sp>
        <p:nvSpPr>
          <p:cNvPr id="4" name="wire-frame"/>
          <p:cNvSpPr/>
          <p:nvPr/>
        </p:nvSpPr>
        <p:spPr>
          <a:xfrm>
            <a:off x="5577840" y="1051560"/>
            <a:ext cx="3108960" cy="301752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wire-header"/>
          <p:cNvSpPr/>
          <p:nvPr/>
        </p:nvSpPr>
        <p:spPr>
          <a:xfrm>
            <a:off x="5760720" y="1234440"/>
            <a:ext cx="27432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wire-header-t"/>
          <p:cNvSpPr txBox="1"/>
          <p:nvPr/>
        </p:nvSpPr>
        <p:spPr>
          <a:xfrm>
            <a:off x="576072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400" dirty="0"/>
          </a:p>
        </p:txBody>
      </p:sp>
      <p:sp>
        <p:nvSpPr>
          <p:cNvPr id="7" name="wire-nav"/>
          <p:cNvSpPr/>
          <p:nvPr/>
        </p:nvSpPr>
        <p:spPr>
          <a:xfrm>
            <a:off x="5760720" y="1783080"/>
            <a:ext cx="274320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wire-nav-t"/>
          <p:cNvSpPr txBox="1"/>
          <p:nvPr/>
        </p:nvSpPr>
        <p:spPr>
          <a:xfrm>
            <a:off x="576072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400" dirty="0"/>
          </a:p>
        </p:txBody>
      </p:sp>
      <p:sp>
        <p:nvSpPr>
          <p:cNvPr id="9" name="wire-main"/>
          <p:cNvSpPr/>
          <p:nvPr/>
        </p:nvSpPr>
        <p:spPr>
          <a:xfrm>
            <a:off x="5760720" y="2240280"/>
            <a:ext cx="27432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wire-main-t"/>
          <p:cNvSpPr txBox="1"/>
          <p:nvPr/>
        </p:nvSpPr>
        <p:spPr>
          <a:xfrm>
            <a:off x="5760720" y="22402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400" dirty="0"/>
          </a:p>
        </p:txBody>
      </p:sp>
      <p:sp>
        <p:nvSpPr>
          <p:cNvPr id="11" name="wire-footer"/>
          <p:cNvSpPr/>
          <p:nvPr/>
        </p:nvSpPr>
        <p:spPr>
          <a:xfrm>
            <a:off x="5760720" y="3520440"/>
            <a:ext cx="2743200" cy="36576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wire-footer-t"/>
          <p:cNvSpPr txBox="1"/>
          <p:nvPr/>
        </p:nvSpPr>
        <p:spPr>
          <a:xfrm>
            <a:off x="576072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Capaian Pembelajaran</a:t>
            </a:r>
            <a:endParaRPr lang="en-US" sz="3400" dirty="0"/>
          </a:p>
        </p:txBody>
      </p:sp>
      <p:sp>
        <p:nvSpPr>
          <p:cNvPr id="4" name="cap-card0"/>
          <p:cNvSpPr/>
          <p:nvPr/>
        </p:nvSpPr>
        <p:spPr>
          <a:xfrm>
            <a:off x="54864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cap0-circle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p0-num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cap-h0"/>
          <p:cNvSpPr txBox="1"/>
          <p:nvPr/>
        </p:nvSpPr>
        <p:spPr>
          <a:xfrm>
            <a:off x="7772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Dokumen</a:t>
            </a:r>
            <a:endParaRPr lang="en-US" sz="2000" dirty="0"/>
          </a:p>
        </p:txBody>
      </p:sp>
      <p:sp>
        <p:nvSpPr>
          <p:cNvPr id="8" name="cap-p0"/>
          <p:cNvSpPr txBox="1"/>
          <p:nvPr/>
        </p:nvSpPr>
        <p:spPr>
          <a:xfrm>
            <a:off x="777240" y="2788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Membuat kerangka HTML5 yang valid dan memahami anatomi elemen.</a:t>
            </a:r>
            <a:endParaRPr lang="en-US" sz="1500" dirty="0"/>
          </a:p>
        </p:txBody>
      </p:sp>
      <p:sp>
        <p:nvSpPr>
          <p:cNvPr id="9" name="cap-card1"/>
          <p:cNvSpPr/>
          <p:nvPr/>
        </p:nvSpPr>
        <p:spPr>
          <a:xfrm>
            <a:off x="329184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cap1-circle"/>
          <p:cNvSpPr/>
          <p:nvPr/>
        </p:nvSpPr>
        <p:spPr>
          <a:xfrm>
            <a:off x="3520440" y="160020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cap1-num"/>
          <p:cNvSpPr txBox="1"/>
          <p:nvPr/>
        </p:nvSpPr>
        <p:spPr>
          <a:xfrm>
            <a:off x="35204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cap-h1"/>
          <p:cNvSpPr txBox="1"/>
          <p:nvPr/>
        </p:nvSpPr>
        <p:spPr>
          <a:xfrm>
            <a:off x="35204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Konten</a:t>
            </a:r>
            <a:endParaRPr lang="en-US" sz="2000" dirty="0"/>
          </a:p>
        </p:txBody>
      </p:sp>
      <p:sp>
        <p:nvSpPr>
          <p:cNvPr id="13" name="cap-p1"/>
          <p:cNvSpPr txBox="1"/>
          <p:nvPr/>
        </p:nvSpPr>
        <p:spPr>
          <a:xfrm>
            <a:off x="3520440" y="2788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Memakai teks, daftar, tautan, gambar, tabel, dan form dengan tepat.</a:t>
            </a:r>
            <a:endParaRPr lang="en-US" sz="1500" dirty="0"/>
          </a:p>
        </p:txBody>
      </p:sp>
      <p:sp>
        <p:nvSpPr>
          <p:cNvPr id="14" name="cap-card2"/>
          <p:cNvSpPr/>
          <p:nvPr/>
        </p:nvSpPr>
        <p:spPr>
          <a:xfrm>
            <a:off x="603504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cap2-circle"/>
          <p:cNvSpPr/>
          <p:nvPr/>
        </p:nvSpPr>
        <p:spPr>
          <a:xfrm>
            <a:off x="6263640" y="1600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cap2-num"/>
          <p:cNvSpPr txBox="1"/>
          <p:nvPr/>
        </p:nvSpPr>
        <p:spPr>
          <a:xfrm>
            <a:off x="6263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cap-h2"/>
          <p:cNvSpPr txBox="1"/>
          <p:nvPr/>
        </p:nvSpPr>
        <p:spPr>
          <a:xfrm>
            <a:off x="62636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Makna</a:t>
            </a:r>
            <a:endParaRPr lang="en-US" sz="2000" dirty="0"/>
          </a:p>
        </p:txBody>
      </p:sp>
      <p:sp>
        <p:nvSpPr>
          <p:cNvPr id="18" name="cap-p2"/>
          <p:cNvSpPr txBox="1"/>
          <p:nvPr/>
        </p:nvSpPr>
        <p:spPr>
          <a:xfrm>
            <a:off x="6263640" y="2788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Menyusun tata letak dengan elemen semantik dan aksesibilitas dasar.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Apa Itu HTML?</a:t>
            </a:r>
            <a:endParaRPr lang="en-US" sz="3400" dirty="0"/>
          </a:p>
        </p:txBody>
      </p:sp>
      <p:sp>
        <p:nvSpPr>
          <p:cNvPr id="4" name="anat-card"/>
          <p:cNvSpPr/>
          <p:nvPr/>
        </p:nvSpPr>
        <p:spPr>
          <a:xfrm>
            <a:off x="548640" y="1280160"/>
            <a:ext cx="5120640" cy="32004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nat-code"/>
          <p:cNvSpPr txBox="1"/>
          <p:nvPr/>
        </p:nvSpPr>
        <p:spPr>
          <a:xfrm>
            <a:off x="777240" y="1554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</a:t>
            </a:r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href="kontak.html"</a:t>
            </a:r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Kontak</a:t>
            </a:r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800" dirty="0"/>
          </a:p>
        </p:txBody>
      </p:sp>
      <p:sp>
        <p:nvSpPr>
          <p:cNvPr id="6" name="anat-dot0"/>
          <p:cNvSpPr/>
          <p:nvPr/>
        </p:nvSpPr>
        <p:spPr>
          <a:xfrm>
            <a:off x="777240" y="2450592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anat-h0"/>
          <p:cNvSpPr txBox="1"/>
          <p:nvPr/>
        </p:nvSpPr>
        <p:spPr>
          <a:xfrm>
            <a:off x="1188720" y="2377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Tag pembuka dan penutup</a:t>
            </a:r>
            <a:endParaRPr lang="en-US" sz="1600" dirty="0"/>
          </a:p>
        </p:txBody>
      </p:sp>
      <p:sp>
        <p:nvSpPr>
          <p:cNvPr id="8" name="anat-p0"/>
          <p:cNvSpPr txBox="1"/>
          <p:nvPr/>
        </p:nvSpPr>
        <p:spPr>
          <a:xfrm>
            <a:off x="1188720" y="2651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menandai awal dan akhir elemen</a:t>
            </a:r>
            <a:endParaRPr lang="en-US" sz="1400" dirty="0"/>
          </a:p>
        </p:txBody>
      </p:sp>
      <p:sp>
        <p:nvSpPr>
          <p:cNvPr id="9" name="anat-dot1"/>
          <p:cNvSpPr/>
          <p:nvPr/>
        </p:nvSpPr>
        <p:spPr>
          <a:xfrm>
            <a:off x="777240" y="3136392"/>
            <a:ext cx="256032" cy="25603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anat-h1"/>
          <p:cNvSpPr txBox="1"/>
          <p:nvPr/>
        </p:nvSpPr>
        <p:spPr>
          <a:xfrm>
            <a:off x="1188720" y="3063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Atribut</a:t>
            </a:r>
            <a:endParaRPr lang="en-US" sz="1600" dirty="0"/>
          </a:p>
        </p:txBody>
      </p:sp>
      <p:sp>
        <p:nvSpPr>
          <p:cNvPr id="11" name="anat-p1"/>
          <p:cNvSpPr txBox="1"/>
          <p:nvPr/>
        </p:nvSpPr>
        <p:spPr>
          <a:xfrm>
            <a:off x="1188720" y="3337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informasi tambahan: nama=“nilai”</a:t>
            </a:r>
            <a:endParaRPr lang="en-US" sz="1400" dirty="0"/>
          </a:p>
        </p:txBody>
      </p:sp>
      <p:sp>
        <p:nvSpPr>
          <p:cNvPr id="12" name="anat-dot2"/>
          <p:cNvSpPr/>
          <p:nvPr/>
        </p:nvSpPr>
        <p:spPr>
          <a:xfrm>
            <a:off x="777240" y="3822192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anat-h2"/>
          <p:cNvSpPr txBox="1"/>
          <p:nvPr/>
        </p:nvSpPr>
        <p:spPr>
          <a:xfrm>
            <a:off x="1188720" y="3749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Konten</a:t>
            </a:r>
            <a:endParaRPr lang="en-US" sz="1600" dirty="0"/>
          </a:p>
        </p:txBody>
      </p:sp>
      <p:sp>
        <p:nvSpPr>
          <p:cNvPr id="14" name="anat-p2"/>
          <p:cNvSpPr txBox="1"/>
          <p:nvPr/>
        </p:nvSpPr>
        <p:spPr>
          <a:xfrm>
            <a:off x="1188720" y="4023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isi yang tampil di halaman</a:t>
            </a:r>
            <a:endParaRPr lang="en-US" sz="1400" dirty="0"/>
          </a:p>
        </p:txBody>
      </p:sp>
      <p:sp>
        <p:nvSpPr>
          <p:cNvPr id="15" name="role-card0"/>
          <p:cNvSpPr/>
          <p:nvPr/>
        </p:nvSpPr>
        <p:spPr>
          <a:xfrm>
            <a:off x="5943600" y="1280160"/>
            <a:ext cx="26517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role-dot0"/>
          <p:cNvSpPr/>
          <p:nvPr/>
        </p:nvSpPr>
        <p:spPr>
          <a:xfrm>
            <a:off x="6126480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role-h0"/>
          <p:cNvSpPr txBox="1"/>
          <p:nvPr/>
        </p:nvSpPr>
        <p:spPr>
          <a:xfrm>
            <a:off x="6766560" y="1463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HTML</a:t>
            </a:r>
            <a:endParaRPr lang="en-US" sz="1800" dirty="0"/>
          </a:p>
        </p:txBody>
      </p:sp>
      <p:sp>
        <p:nvSpPr>
          <p:cNvPr id="18" name="role-p0"/>
          <p:cNvSpPr txBox="1"/>
          <p:nvPr/>
        </p:nvSpPr>
        <p:spPr>
          <a:xfrm>
            <a:off x="6766560" y="1810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Struktur dan makna</a:t>
            </a:r>
            <a:endParaRPr lang="en-US" sz="1400" dirty="0"/>
          </a:p>
        </p:txBody>
      </p:sp>
      <p:sp>
        <p:nvSpPr>
          <p:cNvPr id="19" name="role-card1"/>
          <p:cNvSpPr/>
          <p:nvPr/>
        </p:nvSpPr>
        <p:spPr>
          <a:xfrm>
            <a:off x="5943600" y="2377440"/>
            <a:ext cx="26517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role-dot1"/>
          <p:cNvSpPr/>
          <p:nvPr/>
        </p:nvSpPr>
        <p:spPr>
          <a:xfrm>
            <a:off x="6126480" y="26517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role-h1"/>
          <p:cNvSpPr txBox="1"/>
          <p:nvPr/>
        </p:nvSpPr>
        <p:spPr>
          <a:xfrm>
            <a:off x="6766560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CSS</a:t>
            </a:r>
            <a:endParaRPr lang="en-US" sz="1800" dirty="0"/>
          </a:p>
        </p:txBody>
      </p:sp>
      <p:sp>
        <p:nvSpPr>
          <p:cNvPr id="22" name="role-p1"/>
          <p:cNvSpPr txBox="1"/>
          <p:nvPr/>
        </p:nvSpPr>
        <p:spPr>
          <a:xfrm>
            <a:off x="6766560" y="29077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Tampilan</a:t>
            </a:r>
            <a:endParaRPr lang="en-US" sz="1400" dirty="0"/>
          </a:p>
        </p:txBody>
      </p:sp>
      <p:sp>
        <p:nvSpPr>
          <p:cNvPr id="23" name="role-card2"/>
          <p:cNvSpPr/>
          <p:nvPr/>
        </p:nvSpPr>
        <p:spPr>
          <a:xfrm>
            <a:off x="5943600" y="3474720"/>
            <a:ext cx="26517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role-dot2"/>
          <p:cNvSpPr/>
          <p:nvPr/>
        </p:nvSpPr>
        <p:spPr>
          <a:xfrm>
            <a:off x="6126480" y="3749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role-h2"/>
          <p:cNvSpPr txBox="1"/>
          <p:nvPr/>
        </p:nvSpPr>
        <p:spPr>
          <a:xfrm>
            <a:off x="6766560" y="3657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JavaScript</a:t>
            </a:r>
            <a:endParaRPr lang="en-US" sz="1800" dirty="0"/>
          </a:p>
        </p:txBody>
      </p:sp>
      <p:sp>
        <p:nvSpPr>
          <p:cNvPr id="26" name="role-p2"/>
          <p:cNvSpPr txBox="1"/>
          <p:nvPr/>
        </p:nvSpPr>
        <p:spPr>
          <a:xfrm>
            <a:off x="6766560" y="40050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Perilaku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Struktur Dokumen Dasar</a:t>
            </a:r>
            <a:endParaRPr lang="en-US" sz="3400" dirty="0"/>
          </a:p>
        </p:txBody>
      </p:sp>
      <p:sp>
        <p:nvSpPr>
          <p:cNvPr id="4" name="doc-code"/>
          <p:cNvSpPr/>
          <p:nvPr/>
        </p:nvSpPr>
        <p:spPr>
          <a:xfrm>
            <a:off x="548640" y="1280160"/>
            <a:ext cx="4572000" cy="32004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doc-code-code"/>
          <p:cNvSpPr txBox="1"/>
          <p:nvPr/>
        </p:nvSpPr>
        <p:spPr>
          <a:xfrm>
            <a:off x="777240" y="1463040"/>
            <a:ext cx="41148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lang="id"&gt;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charset="UTF-8"&gt;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name="viewport" ...&gt;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&lt;title&gt;Judul&lt;/title&gt;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&lt;h1&gt;Halo!&lt;/h1&gt;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500" dirty="0"/>
          </a:p>
        </p:txBody>
      </p:sp>
      <p:sp>
        <p:nvSpPr>
          <p:cNvPr id="6" name="doc-card0"/>
          <p:cNvSpPr/>
          <p:nvPr/>
        </p:nvSpPr>
        <p:spPr>
          <a:xfrm>
            <a:off x="5394960" y="1280160"/>
            <a:ext cx="32004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doc-h0"/>
          <p:cNvSpPr txBox="1"/>
          <p:nvPr/>
        </p:nvSpPr>
        <p:spPr>
          <a:xfrm>
            <a:off x="5577840" y="1417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endParaRPr lang="en-US" sz="1700" dirty="0"/>
          </a:p>
        </p:txBody>
      </p:sp>
      <p:sp>
        <p:nvSpPr>
          <p:cNvPr id="8" name="doc-p0"/>
          <p:cNvSpPr txBox="1"/>
          <p:nvPr/>
        </p:nvSpPr>
        <p:spPr>
          <a:xfrm>
            <a:off x="5577840" y="1783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Metadata: judul tab, charset, viewport, CSS</a:t>
            </a:r>
            <a:endParaRPr lang="en-US" sz="1400" dirty="0"/>
          </a:p>
        </p:txBody>
      </p:sp>
      <p:sp>
        <p:nvSpPr>
          <p:cNvPr id="9" name="doc-card1"/>
          <p:cNvSpPr/>
          <p:nvPr/>
        </p:nvSpPr>
        <p:spPr>
          <a:xfrm>
            <a:off x="5394960" y="2377440"/>
            <a:ext cx="32004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doc-h1"/>
          <p:cNvSpPr txBox="1"/>
          <p:nvPr/>
        </p:nvSpPr>
        <p:spPr>
          <a:xfrm>
            <a:off x="5577840" y="2514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endParaRPr lang="en-US" sz="1700" dirty="0"/>
          </a:p>
        </p:txBody>
      </p:sp>
      <p:sp>
        <p:nvSpPr>
          <p:cNvPr id="11" name="doc-p1"/>
          <p:cNvSpPr txBox="1"/>
          <p:nvPr/>
        </p:nvSpPr>
        <p:spPr>
          <a:xfrm>
            <a:off x="557784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Semua konten yang tampil kepada pengguna</a:t>
            </a:r>
            <a:endParaRPr lang="en-US" sz="1400" dirty="0"/>
          </a:p>
        </p:txBody>
      </p:sp>
      <p:sp>
        <p:nvSpPr>
          <p:cNvPr id="12" name="doc-card2"/>
          <p:cNvSpPr/>
          <p:nvPr/>
        </p:nvSpPr>
        <p:spPr>
          <a:xfrm>
            <a:off x="5394960" y="3474720"/>
            <a:ext cx="32004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doc-h2"/>
          <p:cNvSpPr txBox="1"/>
          <p:nvPr/>
        </p:nvSpPr>
        <p:spPr>
          <a:xfrm>
            <a:off x="5577840" y="3611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</a:t>
            </a:r>
            <a:endParaRPr lang="en-US" sz="1700" dirty="0"/>
          </a:p>
        </p:txBody>
      </p:sp>
      <p:sp>
        <p:nvSpPr>
          <p:cNvPr id="14" name="doc-p2"/>
          <p:cNvSpPr txBox="1"/>
          <p:nvPr/>
        </p:nvSpPr>
        <p:spPr>
          <a:xfrm>
            <a:off x="5577840" y="3977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Bahasa dokumen untuk pembaca layar dan SEO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Teks dan Daftar</a:t>
            </a:r>
            <a:endParaRPr lang="en-US" sz="3400" dirty="0"/>
          </a:p>
        </p:txBody>
      </p:sp>
      <p:sp>
        <p:nvSpPr>
          <p:cNvPr id="4" name="txt-card0"/>
          <p:cNvSpPr/>
          <p:nvPr/>
        </p:nvSpPr>
        <p:spPr>
          <a:xfrm>
            <a:off x="548640" y="128016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xt-head0"/>
          <p:cNvSpPr/>
          <p:nvPr/>
        </p:nvSpPr>
        <p:spPr>
          <a:xfrm>
            <a:off x="548640" y="1280160"/>
            <a:ext cx="256032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xt-h0"/>
          <p:cNvSpPr txBox="1"/>
          <p:nvPr/>
        </p:nvSpPr>
        <p:spPr>
          <a:xfrm>
            <a:off x="777240" y="1325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Judul</a:t>
            </a:r>
            <a:endParaRPr lang="en-US" sz="2000" dirty="0"/>
          </a:p>
        </p:txBody>
      </p:sp>
      <p:sp>
        <p:nvSpPr>
          <p:cNvPr id="7" name="txt-tag0"/>
          <p:cNvSpPr txBox="1"/>
          <p:nvPr/>
        </p:nvSpPr>
        <p:spPr>
          <a:xfrm>
            <a:off x="777240" y="1691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... h6</a:t>
            </a:r>
            <a:endParaRPr lang="en-US" sz="1400" dirty="0"/>
          </a:p>
        </p:txBody>
      </p:sp>
      <p:sp>
        <p:nvSpPr>
          <p:cNvPr id="8" name="txt-l0"/>
          <p:cNvSpPr txBox="1"/>
          <p:nvPr/>
        </p:nvSpPr>
        <p:spPr>
          <a:xfrm>
            <a:off x="777240" y="224028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Satu h1 per halaman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Urut, tanpa melompat tingkat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Ukuran diatur CSS</a:t>
            </a:r>
            <a:endParaRPr lang="en-US" sz="1500" dirty="0"/>
          </a:p>
        </p:txBody>
      </p:sp>
      <p:sp>
        <p:nvSpPr>
          <p:cNvPr id="9" name="txt-card1"/>
          <p:cNvSpPr/>
          <p:nvPr/>
        </p:nvSpPr>
        <p:spPr>
          <a:xfrm>
            <a:off x="3291840" y="128016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xt-head1"/>
          <p:cNvSpPr/>
          <p:nvPr/>
        </p:nvSpPr>
        <p:spPr>
          <a:xfrm>
            <a:off x="3291840" y="1280160"/>
            <a:ext cx="2560320" cy="73152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xt-h1"/>
          <p:cNvSpPr txBox="1"/>
          <p:nvPr/>
        </p:nvSpPr>
        <p:spPr>
          <a:xfrm>
            <a:off x="3520440" y="1325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Teks</a:t>
            </a:r>
            <a:endParaRPr lang="en-US" sz="2000" dirty="0"/>
          </a:p>
        </p:txBody>
      </p:sp>
      <p:sp>
        <p:nvSpPr>
          <p:cNvPr id="12" name="txt-tag1"/>
          <p:cNvSpPr txBox="1"/>
          <p:nvPr/>
        </p:nvSpPr>
        <p:spPr>
          <a:xfrm>
            <a:off x="3520440" y="1691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p, strong, em</a:t>
            </a:r>
            <a:endParaRPr lang="en-US" sz="1400" dirty="0"/>
          </a:p>
        </p:txBody>
      </p:sp>
      <p:sp>
        <p:nvSpPr>
          <p:cNvPr id="13" name="txt-l1"/>
          <p:cNvSpPr txBox="1"/>
          <p:nvPr/>
        </p:nvSpPr>
        <p:spPr>
          <a:xfrm>
            <a:off x="3520440" y="224028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 untuk paragraf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strong berarti penting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em berarti penekanan</a:t>
            </a:r>
            <a:endParaRPr lang="en-US" sz="1500" dirty="0"/>
          </a:p>
        </p:txBody>
      </p:sp>
      <p:sp>
        <p:nvSpPr>
          <p:cNvPr id="14" name="txt-card2"/>
          <p:cNvSpPr/>
          <p:nvPr/>
        </p:nvSpPr>
        <p:spPr>
          <a:xfrm>
            <a:off x="6035040" y="128016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xt-head2"/>
          <p:cNvSpPr/>
          <p:nvPr/>
        </p:nvSpPr>
        <p:spPr>
          <a:xfrm>
            <a:off x="6035040" y="1280160"/>
            <a:ext cx="2560320" cy="73152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xt-h2"/>
          <p:cNvSpPr txBox="1"/>
          <p:nvPr/>
        </p:nvSpPr>
        <p:spPr>
          <a:xfrm>
            <a:off x="6263640" y="1325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Daftar</a:t>
            </a:r>
            <a:endParaRPr lang="en-US" sz="2000" dirty="0"/>
          </a:p>
        </p:txBody>
      </p:sp>
      <p:sp>
        <p:nvSpPr>
          <p:cNvPr id="17" name="txt-tag2"/>
          <p:cNvSpPr txBox="1"/>
          <p:nvPr/>
        </p:nvSpPr>
        <p:spPr>
          <a:xfrm>
            <a:off x="6263640" y="1691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ul, ol, dl</a:t>
            </a:r>
            <a:endParaRPr lang="en-US" sz="1400" dirty="0"/>
          </a:p>
        </p:txBody>
      </p:sp>
      <p:sp>
        <p:nvSpPr>
          <p:cNvPr id="18" name="txt-l2"/>
          <p:cNvSpPr txBox="1"/>
          <p:nvPr/>
        </p:nvSpPr>
        <p:spPr>
          <a:xfrm>
            <a:off x="6263640" y="224028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ul: tak berurut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ol: berurut</a:t>
            </a:r>
            <a:endParaRPr lang="en-US" sz="15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dl: istilah dan arti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Tautan dan Gambar</a:t>
            </a:r>
            <a:endParaRPr lang="en-US" sz="3400" dirty="0"/>
          </a:p>
        </p:txBody>
      </p:sp>
      <p:sp>
        <p:nvSpPr>
          <p:cNvPr id="4" name="link-code"/>
          <p:cNvSpPr/>
          <p:nvPr/>
        </p:nvSpPr>
        <p:spPr>
          <a:xfrm>
            <a:off x="548640" y="1280160"/>
            <a:ext cx="475488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link-code-label"/>
          <p:cNvSpPr txBox="1"/>
          <p:nvPr/>
        </p:nvSpPr>
        <p:spPr>
          <a:xfrm>
            <a:off x="777240" y="1463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Tautan</a:t>
            </a:r>
            <a:endParaRPr lang="en-US" sz="1700" dirty="0"/>
          </a:p>
        </p:txBody>
      </p:sp>
      <p:sp>
        <p:nvSpPr>
          <p:cNvPr id="6" name="link-code-code"/>
          <p:cNvSpPr txBox="1"/>
          <p:nvPr/>
        </p:nvSpPr>
        <p:spPr>
          <a:xfrm>
            <a:off x="777240" y="1920240"/>
            <a:ext cx="4297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href="jadwal.html"&gt;Jadwal&lt;/a&gt;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href="#minat"&gt;Ke Minat&lt;/a&gt;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href="mailto:a@b.id"&gt;Surel&lt;/a&gt;</a:t>
            </a:r>
            <a:endParaRPr lang="en-US" sz="1400" dirty="0"/>
          </a:p>
        </p:txBody>
      </p:sp>
      <p:sp>
        <p:nvSpPr>
          <p:cNvPr id="7" name="img-code"/>
          <p:cNvSpPr/>
          <p:nvPr/>
        </p:nvSpPr>
        <p:spPr>
          <a:xfrm>
            <a:off x="5486400" y="1280160"/>
            <a:ext cx="310896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img-code-label"/>
          <p:cNvSpPr txBox="1"/>
          <p:nvPr/>
        </p:nvSpPr>
        <p:spPr>
          <a:xfrm>
            <a:off x="571500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Gambar</a:t>
            </a:r>
            <a:endParaRPr lang="en-US" sz="1700" dirty="0"/>
          </a:p>
        </p:txBody>
      </p:sp>
      <p:sp>
        <p:nvSpPr>
          <p:cNvPr id="9" name="img-code-code"/>
          <p:cNvSpPr txBox="1"/>
          <p:nvPr/>
        </p:nvSpPr>
        <p:spPr>
          <a:xfrm>
            <a:off x="5715000" y="1920240"/>
            <a:ext cx="2651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src="img/foto.jpg"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alt="Foto saya"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width="200"&gt;</a:t>
            </a:r>
            <a:endParaRPr lang="en-US" sz="1400" dirty="0"/>
          </a:p>
        </p:txBody>
      </p:sp>
      <p:sp>
        <p:nvSpPr>
          <p:cNvPr id="10" name="tips-card"/>
          <p:cNvSpPr/>
          <p:nvPr/>
        </p:nvSpPr>
        <p:spPr>
          <a:xfrm>
            <a:off x="548640" y="3840480"/>
            <a:ext cx="804672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ips-text"/>
          <p:cNvSpPr txBox="1"/>
          <p:nvPr/>
        </p:nvSpPr>
        <p:spPr>
          <a:xfrm>
            <a:off x="777240" y="38404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Path relatif merujuk berkas dalam proyek. Atribut alt wajib untuk gambar informatif; gambar dekoratif memakai alt kosong.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Tabel untuk Data Tabular</a:t>
            </a:r>
            <a:endParaRPr lang="en-US" sz="3400" dirty="0"/>
          </a:p>
        </p:txBody>
      </p:sp>
      <p:graphicFrame>
        <p:nvGraphicFramePr>
          <p:cNvPr id="8" name="demo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4389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194560"/>
                <a:gridCol w="1188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Hari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Mata Kuliah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Ruang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Senin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Pemrograman Web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Lab 1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Selasa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Basis Data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R. 204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Rabu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Jaringan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R. 101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bl-cap"/>
          <p:cNvSpPr txBox="1"/>
          <p:nvPr/>
        </p:nvSpPr>
        <p:spPr>
          <a:xfrm>
            <a:off x="548640" y="3520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Hasil tabel di browser</a:t>
            </a:r>
            <a:endParaRPr lang="en-US" sz="1200" dirty="0"/>
          </a:p>
        </p:txBody>
      </p:sp>
      <p:sp>
        <p:nvSpPr>
          <p:cNvPr id="6" name="tag-card"/>
          <p:cNvSpPr/>
          <p:nvPr/>
        </p:nvSpPr>
        <p:spPr>
          <a:xfrm>
            <a:off x="5212080" y="1280160"/>
            <a:ext cx="338328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ag-n0"/>
          <p:cNvSpPr txBox="1"/>
          <p:nvPr/>
        </p:nvSpPr>
        <p:spPr>
          <a:xfrm>
            <a:off x="544068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caption</a:t>
            </a:r>
            <a:endParaRPr lang="en-US" sz="1400" dirty="0"/>
          </a:p>
        </p:txBody>
      </p:sp>
      <p:sp>
        <p:nvSpPr>
          <p:cNvPr id="8" name="tag-d0"/>
          <p:cNvSpPr txBox="1"/>
          <p:nvPr/>
        </p:nvSpPr>
        <p:spPr>
          <a:xfrm>
            <a:off x="544068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judul tabel</a:t>
            </a:r>
            <a:endParaRPr lang="en-US" sz="1400" dirty="0"/>
          </a:p>
        </p:txBody>
      </p:sp>
      <p:sp>
        <p:nvSpPr>
          <p:cNvPr id="9" name="tag-n1"/>
          <p:cNvSpPr txBox="1"/>
          <p:nvPr/>
        </p:nvSpPr>
        <p:spPr>
          <a:xfrm>
            <a:off x="5440680" y="2240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thead tbody tfoot</a:t>
            </a:r>
            <a:endParaRPr lang="en-US" sz="1400" dirty="0"/>
          </a:p>
        </p:txBody>
      </p:sp>
      <p:sp>
        <p:nvSpPr>
          <p:cNvPr id="10" name="tag-d1"/>
          <p:cNvSpPr txBox="1"/>
          <p:nvPr/>
        </p:nvSpPr>
        <p:spPr>
          <a:xfrm>
            <a:off x="5440680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bagian tabel</a:t>
            </a:r>
            <a:endParaRPr lang="en-US" sz="1400" dirty="0"/>
          </a:p>
        </p:txBody>
      </p:sp>
      <p:sp>
        <p:nvSpPr>
          <p:cNvPr id="11" name="tag-n2"/>
          <p:cNvSpPr txBox="1"/>
          <p:nvPr/>
        </p:nvSpPr>
        <p:spPr>
          <a:xfrm>
            <a:off x="5440680" y="2971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 th td</a:t>
            </a:r>
            <a:endParaRPr lang="en-US" sz="1400" dirty="0"/>
          </a:p>
        </p:txBody>
      </p:sp>
      <p:sp>
        <p:nvSpPr>
          <p:cNvPr id="12" name="tag-d2"/>
          <p:cNvSpPr txBox="1"/>
          <p:nvPr/>
        </p:nvSpPr>
        <p:spPr>
          <a:xfrm>
            <a:off x="544068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baris, judul, data</a:t>
            </a:r>
            <a:endParaRPr lang="en-US" sz="1400" dirty="0"/>
          </a:p>
        </p:txBody>
      </p:sp>
      <p:sp>
        <p:nvSpPr>
          <p:cNvPr id="13" name="tag-n3"/>
          <p:cNvSpPr txBox="1"/>
          <p:nvPr/>
        </p:nvSpPr>
        <p:spPr>
          <a:xfrm>
            <a:off x="544068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colspan rowspan</a:t>
            </a:r>
            <a:endParaRPr lang="en-US" sz="1400" dirty="0"/>
          </a:p>
        </p:txBody>
      </p:sp>
      <p:sp>
        <p:nvSpPr>
          <p:cNvPr id="14" name="tag-d3"/>
          <p:cNvSpPr txBox="1"/>
          <p:nvPr/>
        </p:nvSpPr>
        <p:spPr>
          <a:xfrm>
            <a:off x="5440680" y="4023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gabung sel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Form: Jenis Input</a:t>
            </a:r>
            <a:endParaRPr lang="en-US" sz="3400" dirty="0"/>
          </a:p>
        </p:txBody>
      </p:sp>
      <p:sp>
        <p:nvSpPr>
          <p:cNvPr id="4" name="chip0"/>
          <p:cNvSpPr/>
          <p:nvPr/>
        </p:nvSpPr>
        <p:spPr>
          <a:xfrm>
            <a:off x="548640" y="1280160"/>
            <a:ext cx="19202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chip-dot0"/>
          <p:cNvSpPr/>
          <p:nvPr/>
        </p:nvSpPr>
        <p:spPr>
          <a:xfrm>
            <a:off x="731520" y="146304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hip-n0"/>
          <p:cNvSpPr txBox="1"/>
          <p:nvPr/>
        </p:nvSpPr>
        <p:spPr>
          <a:xfrm>
            <a:off x="73152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600" dirty="0"/>
          </a:p>
        </p:txBody>
      </p:sp>
      <p:sp>
        <p:nvSpPr>
          <p:cNvPr id="7" name="chip-d0"/>
          <p:cNvSpPr txBox="1"/>
          <p:nvPr/>
        </p:nvSpPr>
        <p:spPr>
          <a:xfrm>
            <a:off x="731520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Teks biasa</a:t>
            </a:r>
            <a:endParaRPr lang="en-US" sz="1400" dirty="0"/>
          </a:p>
        </p:txBody>
      </p:sp>
      <p:sp>
        <p:nvSpPr>
          <p:cNvPr id="8" name="chip1"/>
          <p:cNvSpPr/>
          <p:nvPr/>
        </p:nvSpPr>
        <p:spPr>
          <a:xfrm>
            <a:off x="2606040" y="1280160"/>
            <a:ext cx="19202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chip-dot1"/>
          <p:cNvSpPr/>
          <p:nvPr/>
        </p:nvSpPr>
        <p:spPr>
          <a:xfrm>
            <a:off x="2788920" y="146304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hip-n1"/>
          <p:cNvSpPr txBox="1"/>
          <p:nvPr/>
        </p:nvSpPr>
        <p:spPr>
          <a:xfrm>
            <a:off x="278892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600" dirty="0"/>
          </a:p>
        </p:txBody>
      </p:sp>
      <p:sp>
        <p:nvSpPr>
          <p:cNvPr id="11" name="chip-d1"/>
          <p:cNvSpPr txBox="1"/>
          <p:nvPr/>
        </p:nvSpPr>
        <p:spPr>
          <a:xfrm>
            <a:off x="2788920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Format surel</a:t>
            </a:r>
            <a:endParaRPr lang="en-US" sz="1400" dirty="0"/>
          </a:p>
        </p:txBody>
      </p:sp>
      <p:sp>
        <p:nvSpPr>
          <p:cNvPr id="12" name="chip2"/>
          <p:cNvSpPr/>
          <p:nvPr/>
        </p:nvSpPr>
        <p:spPr>
          <a:xfrm>
            <a:off x="4663440" y="1280160"/>
            <a:ext cx="19202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chip-dot2"/>
          <p:cNvSpPr/>
          <p:nvPr/>
        </p:nvSpPr>
        <p:spPr>
          <a:xfrm>
            <a:off x="4846320" y="1463040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chip-n2"/>
          <p:cNvSpPr txBox="1"/>
          <p:nvPr/>
        </p:nvSpPr>
        <p:spPr>
          <a:xfrm>
            <a:off x="484632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endParaRPr lang="en-US" sz="1600" dirty="0"/>
          </a:p>
        </p:txBody>
      </p:sp>
      <p:sp>
        <p:nvSpPr>
          <p:cNvPr id="15" name="chip-d2"/>
          <p:cNvSpPr txBox="1"/>
          <p:nvPr/>
        </p:nvSpPr>
        <p:spPr>
          <a:xfrm>
            <a:off x="4846320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Karakter disamarkan</a:t>
            </a:r>
            <a:endParaRPr lang="en-US" sz="1400" dirty="0"/>
          </a:p>
        </p:txBody>
      </p:sp>
      <p:sp>
        <p:nvSpPr>
          <p:cNvPr id="16" name="chip3"/>
          <p:cNvSpPr/>
          <p:nvPr/>
        </p:nvSpPr>
        <p:spPr>
          <a:xfrm>
            <a:off x="6720840" y="1280160"/>
            <a:ext cx="19202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chip-dot3"/>
          <p:cNvSpPr/>
          <p:nvPr/>
        </p:nvSpPr>
        <p:spPr>
          <a:xfrm>
            <a:off x="6903720" y="146304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chip-n3"/>
          <p:cNvSpPr txBox="1"/>
          <p:nvPr/>
        </p:nvSpPr>
        <p:spPr>
          <a:xfrm>
            <a:off x="690372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endParaRPr lang="en-US" sz="1600" dirty="0"/>
          </a:p>
        </p:txBody>
      </p:sp>
      <p:sp>
        <p:nvSpPr>
          <p:cNvPr id="19" name="chip-d3"/>
          <p:cNvSpPr txBox="1"/>
          <p:nvPr/>
        </p:nvSpPr>
        <p:spPr>
          <a:xfrm>
            <a:off x="6903720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Angka (min, max)</a:t>
            </a:r>
            <a:endParaRPr lang="en-US" sz="1400" dirty="0"/>
          </a:p>
        </p:txBody>
      </p:sp>
      <p:sp>
        <p:nvSpPr>
          <p:cNvPr id="20" name="chip4"/>
          <p:cNvSpPr/>
          <p:nvPr/>
        </p:nvSpPr>
        <p:spPr>
          <a:xfrm>
            <a:off x="548640" y="2743200"/>
            <a:ext cx="19202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chip-dot4"/>
          <p:cNvSpPr/>
          <p:nvPr/>
        </p:nvSpPr>
        <p:spPr>
          <a:xfrm>
            <a:off x="731520" y="2926080"/>
            <a:ext cx="274320" cy="2743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chip-n4"/>
          <p:cNvSpPr txBox="1"/>
          <p:nvPr/>
        </p:nvSpPr>
        <p:spPr>
          <a:xfrm>
            <a:off x="731520" y="3291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600" dirty="0"/>
          </a:p>
        </p:txBody>
      </p:sp>
      <p:sp>
        <p:nvSpPr>
          <p:cNvPr id="23" name="chip-d4"/>
          <p:cNvSpPr txBox="1"/>
          <p:nvPr/>
        </p:nvSpPr>
        <p:spPr>
          <a:xfrm>
            <a:off x="731520" y="3611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Pemilih tanggal</a:t>
            </a:r>
            <a:endParaRPr lang="en-US" sz="1400" dirty="0"/>
          </a:p>
        </p:txBody>
      </p:sp>
      <p:sp>
        <p:nvSpPr>
          <p:cNvPr id="24" name="chip5"/>
          <p:cNvSpPr/>
          <p:nvPr/>
        </p:nvSpPr>
        <p:spPr>
          <a:xfrm>
            <a:off x="2606040" y="2743200"/>
            <a:ext cx="19202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chip-dot5"/>
          <p:cNvSpPr/>
          <p:nvPr/>
        </p:nvSpPr>
        <p:spPr>
          <a:xfrm>
            <a:off x="2788920" y="2926080"/>
            <a:ext cx="274320" cy="2743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chip-n5"/>
          <p:cNvSpPr txBox="1"/>
          <p:nvPr/>
        </p:nvSpPr>
        <p:spPr>
          <a:xfrm>
            <a:off x="2788920" y="3291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radio</a:t>
            </a:r>
            <a:endParaRPr lang="en-US" sz="1600" dirty="0"/>
          </a:p>
        </p:txBody>
      </p:sp>
      <p:sp>
        <p:nvSpPr>
          <p:cNvPr id="27" name="chip-d5"/>
          <p:cNvSpPr txBox="1"/>
          <p:nvPr/>
        </p:nvSpPr>
        <p:spPr>
          <a:xfrm>
            <a:off x="2788920" y="3611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Satu dari beberapa</a:t>
            </a:r>
            <a:endParaRPr lang="en-US" sz="1400" dirty="0"/>
          </a:p>
        </p:txBody>
      </p:sp>
      <p:sp>
        <p:nvSpPr>
          <p:cNvPr id="28" name="chip6"/>
          <p:cNvSpPr/>
          <p:nvPr/>
        </p:nvSpPr>
        <p:spPr>
          <a:xfrm>
            <a:off x="4663440" y="2743200"/>
            <a:ext cx="19202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chip-dot6"/>
          <p:cNvSpPr/>
          <p:nvPr/>
        </p:nvSpPr>
        <p:spPr>
          <a:xfrm>
            <a:off x="4846320" y="292608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chip-n6"/>
          <p:cNvSpPr txBox="1"/>
          <p:nvPr/>
        </p:nvSpPr>
        <p:spPr>
          <a:xfrm>
            <a:off x="4846320" y="3291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checkbox</a:t>
            </a:r>
            <a:endParaRPr lang="en-US" sz="1600" dirty="0"/>
          </a:p>
        </p:txBody>
      </p:sp>
      <p:sp>
        <p:nvSpPr>
          <p:cNvPr id="31" name="chip-d6"/>
          <p:cNvSpPr txBox="1"/>
          <p:nvPr/>
        </p:nvSpPr>
        <p:spPr>
          <a:xfrm>
            <a:off x="4846320" y="3611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Nol atau lebih</a:t>
            </a:r>
            <a:endParaRPr lang="en-US" sz="1400" dirty="0"/>
          </a:p>
        </p:txBody>
      </p:sp>
      <p:sp>
        <p:nvSpPr>
          <p:cNvPr id="32" name="chip7"/>
          <p:cNvSpPr/>
          <p:nvPr/>
        </p:nvSpPr>
        <p:spPr>
          <a:xfrm>
            <a:off x="6720840" y="2743200"/>
            <a:ext cx="19202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chip-dot7"/>
          <p:cNvSpPr/>
          <p:nvPr/>
        </p:nvSpPr>
        <p:spPr>
          <a:xfrm>
            <a:off x="6903720" y="292608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4" name="chip-n7"/>
          <p:cNvSpPr txBox="1"/>
          <p:nvPr/>
        </p:nvSpPr>
        <p:spPr>
          <a:xfrm>
            <a:off x="6903720" y="3291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endParaRPr lang="en-US" sz="1600" dirty="0"/>
          </a:p>
        </p:txBody>
      </p:sp>
      <p:sp>
        <p:nvSpPr>
          <p:cNvPr id="35" name="chip-d7"/>
          <p:cNvSpPr txBox="1"/>
          <p:nvPr/>
        </p:nvSpPr>
        <p:spPr>
          <a:xfrm>
            <a:off x="6903720" y="3611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Unggah berkas</a:t>
            </a:r>
            <a:endParaRPr lang="en-US" sz="1400" dirty="0"/>
          </a:p>
        </p:txBody>
      </p:sp>
      <p:sp>
        <p:nvSpPr>
          <p:cNvPr id="36" name="chip-note"/>
          <p:cNvSpPr txBox="1"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Tambahan: textarea, select, fieldset, dan button.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Form: Label, Name, Method</a:t>
            </a:r>
            <a:endParaRPr lang="en-US" sz="3400" dirty="0"/>
          </a:p>
        </p:txBody>
      </p:sp>
      <p:sp>
        <p:nvSpPr>
          <p:cNvPr id="4" name="form-code"/>
          <p:cNvSpPr/>
          <p:nvPr/>
        </p:nvSpPr>
        <p:spPr>
          <a:xfrm>
            <a:off x="548640" y="1280160"/>
            <a:ext cx="4572000" cy="32004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form-code-code"/>
          <p:cNvSpPr txBox="1"/>
          <p:nvPr/>
        </p:nvSpPr>
        <p:spPr>
          <a:xfrm>
            <a:off x="777240" y="1463040"/>
            <a:ext cx="41148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action="proses.php"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method="post"&gt;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for="nama"&gt;Nama&lt;/label&gt;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id="nama" name="nama"&gt;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&lt;button&gt;Kirim&lt;/button&gt;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400" dirty="0"/>
          </a:p>
        </p:txBody>
      </p:sp>
      <p:sp>
        <p:nvSpPr>
          <p:cNvPr id="6" name="rule-card0"/>
          <p:cNvSpPr/>
          <p:nvPr/>
        </p:nvSpPr>
        <p:spPr>
          <a:xfrm>
            <a:off x="5394960" y="1280160"/>
            <a:ext cx="32004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rule-h0"/>
          <p:cNvSpPr txBox="1"/>
          <p:nvPr/>
        </p:nvSpPr>
        <p:spPr>
          <a:xfrm>
            <a:off x="5577840" y="13898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label for = id</a:t>
            </a:r>
            <a:endParaRPr lang="en-US" sz="1600" dirty="0"/>
          </a:p>
        </p:txBody>
      </p:sp>
      <p:sp>
        <p:nvSpPr>
          <p:cNvPr id="8" name="rule-p0"/>
          <p:cNvSpPr txBox="1"/>
          <p:nvPr/>
        </p:nvSpPr>
        <p:spPr>
          <a:xfrm>
            <a:off x="5577840" y="1737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Menghubungkan label dan input; membantu pembaca layar</a:t>
            </a:r>
            <a:endParaRPr lang="en-US" sz="1400" dirty="0"/>
          </a:p>
        </p:txBody>
      </p:sp>
      <p:sp>
        <p:nvSpPr>
          <p:cNvPr id="9" name="rule-card1"/>
          <p:cNvSpPr/>
          <p:nvPr/>
        </p:nvSpPr>
        <p:spPr>
          <a:xfrm>
            <a:off x="5394960" y="2377440"/>
            <a:ext cx="32004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rule-h1"/>
          <p:cNvSpPr txBox="1"/>
          <p:nvPr/>
        </p:nvSpPr>
        <p:spPr>
          <a:xfrm>
            <a:off x="5577840" y="24871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name wajib</a:t>
            </a:r>
            <a:endParaRPr lang="en-US" sz="1600" dirty="0"/>
          </a:p>
        </p:txBody>
      </p:sp>
      <p:sp>
        <p:nvSpPr>
          <p:cNvPr id="11" name="rule-p1"/>
          <p:cNvSpPr txBox="1"/>
          <p:nvPr/>
        </p:nvSpPr>
        <p:spPr>
          <a:xfrm>
            <a:off x="5577840" y="2834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Input tanpa name tidak dikirim ke server</a:t>
            </a:r>
            <a:endParaRPr lang="en-US" sz="1400" dirty="0"/>
          </a:p>
        </p:txBody>
      </p:sp>
      <p:sp>
        <p:nvSpPr>
          <p:cNvPr id="12" name="rule-card2"/>
          <p:cNvSpPr/>
          <p:nvPr/>
        </p:nvSpPr>
        <p:spPr>
          <a:xfrm>
            <a:off x="5394960" y="3474720"/>
            <a:ext cx="32004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rule-h2"/>
          <p:cNvSpPr txBox="1"/>
          <p:nvPr/>
        </p:nvSpPr>
        <p:spPr>
          <a:xfrm>
            <a:off x="5577840" y="35844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get atau post</a:t>
            </a:r>
            <a:endParaRPr lang="en-US" sz="1600" dirty="0"/>
          </a:p>
        </p:txBody>
      </p:sp>
      <p:sp>
        <p:nvSpPr>
          <p:cNvPr id="14" name="rule-p2"/>
          <p:cNvSpPr txBox="1"/>
          <p:nvPr/>
        </p:nvSpPr>
        <p:spPr>
          <a:xfrm>
            <a:off x="5577840" y="3931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GET: data di URL. POST: data di body request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Elemen Semantik</a:t>
            </a:r>
            <a:endParaRPr lang="en-US" sz="3400" dirty="0"/>
          </a:p>
        </p:txBody>
      </p:sp>
      <p:sp>
        <p:nvSpPr>
          <p:cNvPr id="4" name="sem-header"/>
          <p:cNvSpPr/>
          <p:nvPr/>
        </p:nvSpPr>
        <p:spPr>
          <a:xfrm>
            <a:off x="548640" y="1280160"/>
            <a:ext cx="493776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em-header-t"/>
          <p:cNvSpPr txBox="1"/>
          <p:nvPr/>
        </p:nvSpPr>
        <p:spPr>
          <a:xfrm>
            <a:off x="548640" y="1280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400" dirty="0"/>
          </a:p>
        </p:txBody>
      </p:sp>
      <p:sp>
        <p:nvSpPr>
          <p:cNvPr id="6" name="sem-nav"/>
          <p:cNvSpPr/>
          <p:nvPr/>
        </p:nvSpPr>
        <p:spPr>
          <a:xfrm>
            <a:off x="548640" y="1920240"/>
            <a:ext cx="493776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sem-nav-t"/>
          <p:cNvSpPr txBox="1"/>
          <p:nvPr/>
        </p:nvSpPr>
        <p:spPr>
          <a:xfrm>
            <a:off x="548640" y="1920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400" dirty="0"/>
          </a:p>
        </p:txBody>
      </p:sp>
      <p:sp>
        <p:nvSpPr>
          <p:cNvPr id="8" name="sem-main"/>
          <p:cNvSpPr/>
          <p:nvPr/>
        </p:nvSpPr>
        <p:spPr>
          <a:xfrm>
            <a:off x="548640" y="2468880"/>
            <a:ext cx="4937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em-main-t"/>
          <p:cNvSpPr txBox="1"/>
          <p:nvPr/>
        </p:nvSpPr>
        <p:spPr>
          <a:xfrm>
            <a:off x="68580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200" dirty="0"/>
          </a:p>
        </p:txBody>
      </p:sp>
      <p:sp>
        <p:nvSpPr>
          <p:cNvPr id="10" name="sem-article"/>
          <p:cNvSpPr/>
          <p:nvPr/>
        </p:nvSpPr>
        <p:spPr>
          <a:xfrm>
            <a:off x="731520" y="2834640"/>
            <a:ext cx="3017520" cy="1051560"/>
          </a:xfrm>
          <a:prstGeom prst="roundRect">
            <a:avLst>
              <a:gd name="adj" fmla="val 695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sem-article-t"/>
          <p:cNvSpPr txBox="1"/>
          <p:nvPr/>
        </p:nvSpPr>
        <p:spPr>
          <a:xfrm>
            <a:off x="731520" y="283464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400" dirty="0"/>
          </a:p>
        </p:txBody>
      </p:sp>
      <p:sp>
        <p:nvSpPr>
          <p:cNvPr id="12" name="sem-aside"/>
          <p:cNvSpPr/>
          <p:nvPr/>
        </p:nvSpPr>
        <p:spPr>
          <a:xfrm>
            <a:off x="3886200" y="2834640"/>
            <a:ext cx="1463040" cy="1051560"/>
          </a:xfrm>
          <a:prstGeom prst="roundRect">
            <a:avLst>
              <a:gd name="adj" fmla="val 69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sem-aside-t"/>
          <p:cNvSpPr txBox="1"/>
          <p:nvPr/>
        </p:nvSpPr>
        <p:spPr>
          <a:xfrm>
            <a:off x="3886200" y="283464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</a:t>
            </a:r>
            <a:endParaRPr lang="en-US" sz="1400" dirty="0"/>
          </a:p>
        </p:txBody>
      </p:sp>
      <p:sp>
        <p:nvSpPr>
          <p:cNvPr id="14" name="sem-footer"/>
          <p:cNvSpPr/>
          <p:nvPr/>
        </p:nvSpPr>
        <p:spPr>
          <a:xfrm>
            <a:off x="548640" y="4114800"/>
            <a:ext cx="4937760" cy="457200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sem-footer-t"/>
          <p:cNvSpPr txBox="1"/>
          <p:nvPr/>
        </p:nvSpPr>
        <p:spPr>
          <a:xfrm>
            <a:off x="548640" y="4114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400" dirty="0"/>
          </a:p>
        </p:txBody>
      </p:sp>
      <p:sp>
        <p:nvSpPr>
          <p:cNvPr id="16" name="sem-note0"/>
          <p:cNvSpPr/>
          <p:nvPr/>
        </p:nvSpPr>
        <p:spPr>
          <a:xfrm>
            <a:off x="5760720" y="1280160"/>
            <a:ext cx="283464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em-note-t0"/>
          <p:cNvSpPr txBox="1"/>
          <p:nvPr/>
        </p:nvSpPr>
        <p:spPr>
          <a:xfrm>
            <a:off x="5943600" y="12801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Satu &lt;main&gt; per halaman</a:t>
            </a:r>
            <a:endParaRPr lang="en-US" sz="1400" dirty="0"/>
          </a:p>
        </p:txBody>
      </p:sp>
      <p:sp>
        <p:nvSpPr>
          <p:cNvPr id="18" name="sem-note1"/>
          <p:cNvSpPr/>
          <p:nvPr/>
        </p:nvSpPr>
        <p:spPr>
          <a:xfrm>
            <a:off x="5760720" y="2103120"/>
            <a:ext cx="283464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em-note-t1"/>
          <p:cNvSpPr txBox="1"/>
          <p:nvPr/>
        </p:nvSpPr>
        <p:spPr>
          <a:xfrm>
            <a:off x="5943600" y="210312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&lt;section&gt; memiliki judul</a:t>
            </a:r>
            <a:endParaRPr lang="en-US" sz="1400" dirty="0"/>
          </a:p>
        </p:txBody>
      </p:sp>
      <p:sp>
        <p:nvSpPr>
          <p:cNvPr id="20" name="sem-note2"/>
          <p:cNvSpPr/>
          <p:nvPr/>
        </p:nvSpPr>
        <p:spPr>
          <a:xfrm>
            <a:off x="5760720" y="2926080"/>
            <a:ext cx="283464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em-note-t2"/>
          <p:cNvSpPr txBox="1"/>
          <p:nvPr/>
        </p:nvSpPr>
        <p:spPr>
          <a:xfrm>
            <a:off x="5943600" y="292608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&lt;article&gt; berdiri sendiri</a:t>
            </a:r>
            <a:endParaRPr lang="en-US" sz="1400" dirty="0"/>
          </a:p>
        </p:txBody>
      </p:sp>
      <p:sp>
        <p:nvSpPr>
          <p:cNvPr id="22" name="sem-note3"/>
          <p:cNvSpPr/>
          <p:nvPr/>
        </p:nvSpPr>
        <p:spPr>
          <a:xfrm>
            <a:off x="5760720" y="3749040"/>
            <a:ext cx="283464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em-note-t3"/>
          <p:cNvSpPr txBox="1"/>
          <p:nvPr/>
        </p:nvSpPr>
        <p:spPr>
          <a:xfrm>
            <a:off x="5943600" y="37490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&lt;aside&gt; bersifat pelengkap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div vs Elemen Semantik</a:t>
            </a:r>
            <a:endParaRPr lang="en-US" sz="3400" dirty="0"/>
          </a:p>
        </p:txBody>
      </p:sp>
      <p:sp>
        <p:nvSpPr>
          <p:cNvPr id="4" name="bad-code"/>
          <p:cNvSpPr/>
          <p:nvPr/>
        </p:nvSpPr>
        <p:spPr>
          <a:xfrm>
            <a:off x="548640" y="1280160"/>
            <a:ext cx="393192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bad-code-label"/>
          <p:cNvSpPr txBox="1"/>
          <p:nvPr/>
        </p:nvSpPr>
        <p:spPr>
          <a:xfrm>
            <a:off x="77724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Tanpa makna</a:t>
            </a:r>
            <a:endParaRPr lang="en-US" sz="1700" dirty="0"/>
          </a:p>
        </p:txBody>
      </p:sp>
      <p:sp>
        <p:nvSpPr>
          <p:cNvPr id="6" name="bad-code-code"/>
          <p:cNvSpPr txBox="1"/>
          <p:nvPr/>
        </p:nvSpPr>
        <p:spPr>
          <a:xfrm>
            <a:off x="777240" y="1920240"/>
            <a:ext cx="3474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class="header"&gt;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class="menu"&gt;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class="content"&gt;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class="footer"&gt;</a:t>
            </a:r>
            <a:endParaRPr lang="en-US" sz="1400" dirty="0"/>
          </a:p>
        </p:txBody>
      </p:sp>
      <p:sp>
        <p:nvSpPr>
          <p:cNvPr id="7" name="good-code"/>
          <p:cNvSpPr/>
          <p:nvPr/>
        </p:nvSpPr>
        <p:spPr>
          <a:xfrm>
            <a:off x="4663440" y="1280160"/>
            <a:ext cx="393192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good-code-label"/>
          <p:cNvSpPr txBox="1"/>
          <p:nvPr/>
        </p:nvSpPr>
        <p:spPr>
          <a:xfrm>
            <a:off x="489204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Bermakna</a:t>
            </a:r>
            <a:endParaRPr lang="en-US" sz="1700" dirty="0"/>
          </a:p>
        </p:txBody>
      </p:sp>
      <p:sp>
        <p:nvSpPr>
          <p:cNvPr id="9" name="good-code-code"/>
          <p:cNvSpPr txBox="1"/>
          <p:nvPr/>
        </p:nvSpPr>
        <p:spPr>
          <a:xfrm>
            <a:off x="4892040" y="1920240"/>
            <a:ext cx="3474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400" dirty="0"/>
          </a:p>
        </p:txBody>
      </p:sp>
      <p:sp>
        <p:nvSpPr>
          <p:cNvPr id="10" name="ben0"/>
          <p:cNvSpPr/>
          <p:nvPr/>
        </p:nvSpPr>
        <p:spPr>
          <a:xfrm>
            <a:off x="548640" y="3840480"/>
            <a:ext cx="256032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en-t0"/>
          <p:cNvSpPr txBox="1"/>
          <p:nvPr/>
        </p:nvSpPr>
        <p:spPr>
          <a:xfrm>
            <a:off x="685800" y="3840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SEO lebih baik</a:t>
            </a:r>
            <a:endParaRPr lang="en-US" sz="1400" dirty="0"/>
          </a:p>
        </p:txBody>
      </p:sp>
      <p:sp>
        <p:nvSpPr>
          <p:cNvPr id="12" name="ben1"/>
          <p:cNvSpPr/>
          <p:nvPr/>
        </p:nvSpPr>
        <p:spPr>
          <a:xfrm>
            <a:off x="3291840" y="3840480"/>
            <a:ext cx="256032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ben-t1"/>
          <p:cNvSpPr txBox="1"/>
          <p:nvPr/>
        </p:nvSpPr>
        <p:spPr>
          <a:xfrm>
            <a:off x="3429000" y="3840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Mudah dinavigasi pembaca layar</a:t>
            </a:r>
            <a:endParaRPr lang="en-US" sz="1400" dirty="0"/>
          </a:p>
        </p:txBody>
      </p:sp>
      <p:sp>
        <p:nvSpPr>
          <p:cNvPr id="14" name="ben2"/>
          <p:cNvSpPr/>
          <p:nvPr/>
        </p:nvSpPr>
        <p:spPr>
          <a:xfrm>
            <a:off x="6035040" y="3840480"/>
            <a:ext cx="256032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ben-t2"/>
          <p:cNvSpPr txBox="1"/>
          <p:nvPr/>
        </p:nvSpPr>
        <p:spPr>
          <a:xfrm>
            <a:off x="6172200" y="3840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Kode lebih mudah dibaca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Aksesibilitas Dasar</a:t>
            </a:r>
            <a:endParaRPr lang="en-US" sz="3400" dirty="0"/>
          </a:p>
        </p:txBody>
      </p:sp>
      <p:sp>
        <p:nvSpPr>
          <p:cNvPr id="4" name="a11y0-circle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11y0-num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a11y-t0"/>
          <p:cNvSpPr txBox="1"/>
          <p:nvPr/>
        </p:nvSpPr>
        <p:spPr>
          <a:xfrm>
            <a:off x="1188720" y="1280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lang pada elemen html</a:t>
            </a:r>
            <a:endParaRPr lang="en-US" sz="1600" dirty="0"/>
          </a:p>
        </p:txBody>
      </p:sp>
      <p:sp>
        <p:nvSpPr>
          <p:cNvPr id="7" name="a11y1-circle"/>
          <p:cNvSpPr/>
          <p:nvPr/>
        </p:nvSpPr>
        <p:spPr>
          <a:xfrm>
            <a:off x="548640" y="193852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a11y1-num"/>
          <p:cNvSpPr txBox="1"/>
          <p:nvPr/>
        </p:nvSpPr>
        <p:spPr>
          <a:xfrm>
            <a:off x="54864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a11y-t1"/>
          <p:cNvSpPr txBox="1"/>
          <p:nvPr/>
        </p:nvSpPr>
        <p:spPr>
          <a:xfrm>
            <a:off x="1188720" y="1938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alt yang bermakna pada gambar</a:t>
            </a:r>
            <a:endParaRPr lang="en-US" sz="1600" dirty="0"/>
          </a:p>
        </p:txBody>
      </p:sp>
      <p:sp>
        <p:nvSpPr>
          <p:cNvPr id="10" name="a11y2-circle"/>
          <p:cNvSpPr/>
          <p:nvPr/>
        </p:nvSpPr>
        <p:spPr>
          <a:xfrm>
            <a:off x="548640" y="259689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a11y2-num"/>
          <p:cNvSpPr txBox="1"/>
          <p:nvPr/>
        </p:nvSpPr>
        <p:spPr>
          <a:xfrm>
            <a:off x="54864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a11y-t2"/>
          <p:cNvSpPr txBox="1"/>
          <p:nvPr/>
        </p:nvSpPr>
        <p:spPr>
          <a:xfrm>
            <a:off x="1188720" y="25968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Judul berurutan h1 → h2 → h3</a:t>
            </a:r>
            <a:endParaRPr lang="en-US" sz="1600" dirty="0"/>
          </a:p>
        </p:txBody>
      </p:sp>
      <p:sp>
        <p:nvSpPr>
          <p:cNvPr id="13" name="a11y3-circle"/>
          <p:cNvSpPr/>
          <p:nvPr/>
        </p:nvSpPr>
        <p:spPr>
          <a:xfrm>
            <a:off x="548640" y="3255264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a11y3-num"/>
          <p:cNvSpPr txBox="1"/>
          <p:nvPr/>
        </p:nvSpPr>
        <p:spPr>
          <a:xfrm>
            <a:off x="54864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a11y-t3"/>
          <p:cNvSpPr txBox="1"/>
          <p:nvPr/>
        </p:nvSpPr>
        <p:spPr>
          <a:xfrm>
            <a:off x="1188720" y="32552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Label untuk setiap input form</a:t>
            </a:r>
            <a:endParaRPr lang="en-US" sz="1600" dirty="0"/>
          </a:p>
        </p:txBody>
      </p:sp>
      <p:sp>
        <p:nvSpPr>
          <p:cNvPr id="16" name="a11y4-circle"/>
          <p:cNvSpPr/>
          <p:nvPr/>
        </p:nvSpPr>
        <p:spPr>
          <a:xfrm>
            <a:off x="548640" y="39136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a11y4-num"/>
          <p:cNvSpPr txBox="1"/>
          <p:nvPr/>
        </p:nvSpPr>
        <p:spPr>
          <a:xfrm>
            <a:off x="54864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a11y-t4"/>
          <p:cNvSpPr txBox="1"/>
          <p:nvPr/>
        </p:nvSpPr>
        <p:spPr>
          <a:xfrm>
            <a:off x="1188720" y="391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Teks tautan yang jelas</a:t>
            </a:r>
            <a:endParaRPr lang="en-US" sz="1600" dirty="0"/>
          </a:p>
        </p:txBody>
      </p:sp>
      <p:sp>
        <p:nvSpPr>
          <p:cNvPr id="19" name="tool-card"/>
          <p:cNvSpPr/>
          <p:nvPr/>
        </p:nvSpPr>
        <p:spPr>
          <a:xfrm>
            <a:off x="5486400" y="1280160"/>
            <a:ext cx="3108960" cy="320040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ool-h"/>
          <p:cNvSpPr txBox="1"/>
          <p:nvPr/>
        </p:nvSpPr>
        <p:spPr>
          <a:xfrm>
            <a:off x="571500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Alat uji</a:t>
            </a:r>
            <a:endParaRPr lang="en-US" sz="2000" dirty="0"/>
          </a:p>
        </p:txBody>
      </p:sp>
      <p:sp>
        <p:nvSpPr>
          <p:cNvPr id="21" name="tool-l"/>
          <p:cNvSpPr txBox="1"/>
          <p:nvPr/>
        </p:nvSpPr>
        <p:spPr>
          <a:xfrm>
            <a:off x="5715000" y="201168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W3C Validator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validator.w3.org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 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Lighthouse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Chrome DevTools, kategori Accessibility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Praktikum Hari Ini</a:t>
            </a:r>
            <a:endParaRPr lang="en-US" sz="3400" dirty="0"/>
          </a:p>
        </p:txBody>
      </p:sp>
      <p:sp>
        <p:nvSpPr>
          <p:cNvPr id="4" name="prak0-circle"/>
          <p:cNvSpPr/>
          <p:nvPr/>
        </p:nvSpPr>
        <p:spPr>
          <a:xfrm>
            <a:off x="548640" y="12344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rak0-num"/>
          <p:cNvSpPr txBox="1"/>
          <p:nvPr/>
        </p:nvSpPr>
        <p:spPr>
          <a:xfrm>
            <a:off x="54864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prak-t0"/>
          <p:cNvSpPr txBox="1"/>
          <p:nvPr/>
        </p:nvSpPr>
        <p:spPr>
          <a:xfrm>
            <a:off x="1143000" y="12344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Kerangka proyek dan dokumen dasar</a:t>
            </a:r>
            <a:endParaRPr lang="en-US" sz="1600" dirty="0"/>
          </a:p>
        </p:txBody>
      </p:sp>
      <p:sp>
        <p:nvSpPr>
          <p:cNvPr id="7" name="prak1-circle"/>
          <p:cNvSpPr/>
          <p:nvPr/>
        </p:nvSpPr>
        <p:spPr>
          <a:xfrm>
            <a:off x="548640" y="17830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rak1-num"/>
          <p:cNvSpPr txBox="1"/>
          <p:nvPr/>
        </p:nvSpPr>
        <p:spPr>
          <a:xfrm>
            <a:off x="54864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prak-t1"/>
          <p:cNvSpPr txBox="1"/>
          <p:nvPr/>
        </p:nvSpPr>
        <p:spPr>
          <a:xfrm>
            <a:off x="1143000" y="1783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Teks, daftar, tautan, dan gambar</a:t>
            </a:r>
            <a:endParaRPr lang="en-US" sz="1600" dirty="0"/>
          </a:p>
        </p:txBody>
      </p:sp>
      <p:sp>
        <p:nvSpPr>
          <p:cNvPr id="10" name="prak2-circle"/>
          <p:cNvSpPr/>
          <p:nvPr/>
        </p:nvSpPr>
        <p:spPr>
          <a:xfrm>
            <a:off x="548640" y="23317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rak2-num"/>
          <p:cNvSpPr txBox="1"/>
          <p:nvPr/>
        </p:nvSpPr>
        <p:spPr>
          <a:xfrm>
            <a:off x="54864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prak-t2"/>
          <p:cNvSpPr txBox="1"/>
          <p:nvPr/>
        </p:nvSpPr>
        <p:spPr>
          <a:xfrm>
            <a:off x="1143000" y="2331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Tabel jadwal kuliah</a:t>
            </a:r>
            <a:endParaRPr lang="en-US" sz="1600" dirty="0"/>
          </a:p>
        </p:txBody>
      </p:sp>
      <p:sp>
        <p:nvSpPr>
          <p:cNvPr id="13" name="prak3-circle"/>
          <p:cNvSpPr/>
          <p:nvPr/>
        </p:nvSpPr>
        <p:spPr>
          <a:xfrm>
            <a:off x="548640" y="28803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prak3-num"/>
          <p:cNvSpPr txBox="1"/>
          <p:nvPr/>
        </p:nvSpPr>
        <p:spPr>
          <a:xfrm>
            <a:off x="54864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prak-t3"/>
          <p:cNvSpPr txBox="1"/>
          <p:nvPr/>
        </p:nvSpPr>
        <p:spPr>
          <a:xfrm>
            <a:off x="1143000" y="28803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Form kontak dan pengamatan GET/POST</a:t>
            </a:r>
            <a:endParaRPr lang="en-US" sz="1600" dirty="0"/>
          </a:p>
        </p:txBody>
      </p:sp>
      <p:sp>
        <p:nvSpPr>
          <p:cNvPr id="16" name="prak4-circle"/>
          <p:cNvSpPr/>
          <p:nvPr/>
        </p:nvSpPr>
        <p:spPr>
          <a:xfrm>
            <a:off x="548640" y="34290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prak4-num"/>
          <p:cNvSpPr txBox="1"/>
          <p:nvPr/>
        </p:nvSpPr>
        <p:spPr>
          <a:xfrm>
            <a:off x="54864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prak-t4"/>
          <p:cNvSpPr txBox="1"/>
          <p:nvPr/>
        </p:nvSpPr>
        <p:spPr>
          <a:xfrm>
            <a:off x="1143000" y="34290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Struktur semantik tiga halaman</a:t>
            </a:r>
            <a:endParaRPr lang="en-US" sz="1600" dirty="0"/>
          </a:p>
        </p:txBody>
      </p:sp>
      <p:sp>
        <p:nvSpPr>
          <p:cNvPr id="19" name="prak5-circle"/>
          <p:cNvSpPr/>
          <p:nvPr/>
        </p:nvSpPr>
        <p:spPr>
          <a:xfrm>
            <a:off x="548640" y="39776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prak5-num"/>
          <p:cNvSpPr txBox="1"/>
          <p:nvPr/>
        </p:nvSpPr>
        <p:spPr>
          <a:xfrm>
            <a:off x="54864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1" name="prak-t5"/>
          <p:cNvSpPr txBox="1"/>
          <p:nvPr/>
        </p:nvSpPr>
        <p:spPr>
          <a:xfrm>
            <a:off x="1143000" y="39776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Validasi dan Git</a:t>
            </a:r>
            <a:endParaRPr lang="en-US" sz="1600" dirty="0"/>
          </a:p>
        </p:txBody>
      </p:sp>
      <p:sp>
        <p:nvSpPr>
          <p:cNvPr id="22" name="stat-card"/>
          <p:cNvSpPr/>
          <p:nvPr/>
        </p:nvSpPr>
        <p:spPr>
          <a:xfrm>
            <a:off x="6035040" y="1280160"/>
            <a:ext cx="2560320" cy="301752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tat-n"/>
          <p:cNvSpPr txBox="1"/>
          <p:nvPr/>
        </p:nvSpPr>
        <p:spPr>
          <a:xfrm>
            <a:off x="6035040" y="15544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7200" dirty="0"/>
          </a:p>
        </p:txBody>
      </p:sp>
      <p:sp>
        <p:nvSpPr>
          <p:cNvPr id="24" name="stat-l"/>
          <p:cNvSpPr txBox="1"/>
          <p:nvPr/>
        </p:nvSpPr>
        <p:spPr>
          <a:xfrm>
            <a:off x="603504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halaman situs profil</a:t>
            </a:r>
            <a:endParaRPr lang="en-US" sz="1800" dirty="0"/>
          </a:p>
        </p:txBody>
      </p:sp>
      <p:sp>
        <p:nvSpPr>
          <p:cNvPr id="25" name="stat-t"/>
          <p:cNvSpPr txBox="1"/>
          <p:nvPr/>
        </p:nvSpPr>
        <p:spPr>
          <a:xfrm>
            <a:off x="603504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± 150 menit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3716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Rangkuman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0175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Berikutnya, Pertemuan 3: CSS3, tata letak, dan desain responsif</a:t>
            </a:r>
            <a:endParaRPr lang="en-US" sz="1600" dirty="0"/>
          </a:p>
        </p:txBody>
      </p:sp>
      <p:sp>
        <p:nvSpPr>
          <p:cNvPr id="4" name="sum-card0"/>
          <p:cNvSpPr/>
          <p:nvPr/>
        </p:nvSpPr>
        <p:spPr>
          <a:xfrm>
            <a:off x="5577840" y="1097280"/>
            <a:ext cx="310896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um-t0"/>
          <p:cNvSpPr txBox="1"/>
          <p:nvPr/>
        </p:nvSpPr>
        <p:spPr>
          <a:xfrm>
            <a:off x="5760720" y="1097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HTML menyusun struktur dan makna</a:t>
            </a:r>
            <a:endParaRPr lang="en-US" sz="1400" dirty="0"/>
          </a:p>
        </p:txBody>
      </p:sp>
      <p:sp>
        <p:nvSpPr>
          <p:cNvPr id="6" name="sum-card1"/>
          <p:cNvSpPr/>
          <p:nvPr/>
        </p:nvSpPr>
        <p:spPr>
          <a:xfrm>
            <a:off x="5577840" y="1874520"/>
            <a:ext cx="310896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um-t1"/>
          <p:cNvSpPr txBox="1"/>
          <p:nvPr/>
        </p:nvSpPr>
        <p:spPr>
          <a:xfrm>
            <a:off x="5760720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Pilih elemen berdasarkan makna</a:t>
            </a:r>
            <a:endParaRPr lang="en-US" sz="1400" dirty="0"/>
          </a:p>
        </p:txBody>
      </p:sp>
      <p:sp>
        <p:nvSpPr>
          <p:cNvPr id="8" name="sum-card2"/>
          <p:cNvSpPr/>
          <p:nvPr/>
        </p:nvSpPr>
        <p:spPr>
          <a:xfrm>
            <a:off x="5577840" y="2651760"/>
            <a:ext cx="310896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um-t2"/>
          <p:cNvSpPr txBox="1"/>
          <p:nvPr/>
        </p:nvSpPr>
        <p:spPr>
          <a:xfrm>
            <a:off x="5760720" y="2651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Form mengirim data lewat atribut name</a:t>
            </a:r>
            <a:endParaRPr lang="en-US" sz="1400" dirty="0"/>
          </a:p>
        </p:txBody>
      </p:sp>
      <p:sp>
        <p:nvSpPr>
          <p:cNvPr id="10" name="sum-card3"/>
          <p:cNvSpPr/>
          <p:nvPr/>
        </p:nvSpPr>
        <p:spPr>
          <a:xfrm>
            <a:off x="5577840" y="3429000"/>
            <a:ext cx="310896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um-t3"/>
          <p:cNvSpPr txBox="1"/>
          <p:nvPr/>
        </p:nvSpPr>
        <p:spPr>
          <a:xfrm>
            <a:off x="5760720" y="3429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Elemen semantik membantu SEO dan aksesibilitas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mweb">
  <a:themeElements>
    <a:clrScheme name="Pemweb">
      <a:dk1>
        <a:srgbClr val="1F2933"/>
      </a:dk1>
      <a:lt1>
        <a:srgbClr val="FFFFFF"/>
      </a:lt1>
      <a:dk2>
        <a:srgbClr val="10243E"/>
      </a:dk2>
      <a:lt2>
        <a:srgbClr val="EAF3F6"/>
      </a:lt2>
      <a:accent1>
        <a:srgbClr val="0E7C86"/>
      </a:accent1>
      <a:accent2>
        <a:srgbClr val="F2A541"/>
      </a:accent2>
      <a:accent3>
        <a:srgbClr val="3F6FB5"/>
      </a:accent3>
      <a:accent4>
        <a:srgbClr val="D1495B"/>
      </a:accent4>
      <a:accent5>
        <a:srgbClr val="5E8C3A"/>
      </a:accent5>
      <a:accent6>
        <a:srgbClr val="7A5C99"/>
      </a:accent6>
      <a:hlink>
        <a:srgbClr val="0E7C86"/>
      </a:hlink>
      <a:folHlink>
        <a:srgbClr val="7A5C99"/>
      </a:folHlink>
    </a:clrScheme>
    <a:fontScheme name="Pemwe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Web - Pertemuan 2</dc:title>
  <dc:subject>PptxGenJS Presentation</dc:subject>
  <dc:creator>PptxGenJS</dc:creator>
  <cp:lastModifiedBy>PptxGenJS</cp:lastModifiedBy>
  <cp:revision>1</cp:revision>
  <dcterms:created xsi:type="dcterms:W3CDTF">2026-10-16T23:31:31Z</dcterms:created>
  <dcterms:modified xsi:type="dcterms:W3CDTF">2026-10-16T23:31:31Z</dcterms:modified>
</cp:coreProperties>
</file>