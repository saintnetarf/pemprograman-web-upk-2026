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embukaan" id="{7319aaf5-ccf5-1079-7106-428fc3bdaf80}">
          <p14:sldIdLst>
            <p14:sldId id="256"/>
          </p14:sldIdLst>
        </p14:section>
        <p14:section name="Dasar CSS" id="{ab806e97-0e81-b01e-5d69-16316af761c1}">
          <p14:sldIdLst>
            <p14:sldId id="257"/>
            <p14:sldId id="258"/>
            <p14:sldId id="259"/>
            <p14:sldId id="260"/>
          </p14:sldIdLst>
        </p14:section>
        <p14:section name="Tata Letak" id="{955bedec-5e14-5e5b-5399-d09ae40edbf8}">
          <p14:sldIdLst>
            <p14:sldId id="261"/>
            <p14:sldId id="262"/>
            <p14:sldId id="263"/>
            <p14:sldId id="264"/>
            <p14:sldId id="265"/>
          </p14:sldIdLst>
        </p14:section>
        <p14:section name="Responsif dan Tailwind" id="{99e067f2-01f2-a3d5-8275-d6b32c9e354c}">
          <p14:sldIdLst>
            <p14:sldId id="266"/>
            <p14:sldId id="267"/>
          </p14:sldIdLst>
        </p14:section>
        <p14:section name="Penutup" id="{89223fa8-03e9-bf6f-10b6-a7e41bc8d9af}">
          <p14:sldIdLst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Ulas singkat Pertemuan 2: HTML5 dan struktur situs profil. Hari ini situs yang sama diberi tampilan dengan CSS. Motif di sisi kanan adalah box model, yang akan dibahas pada bagian tengah.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Bacakan tiga capaian. Tekankan bahwa CSS dipelajari melalui situs profil dari Pertemuan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Tunjukkan ketiganya di VS Code. Tekankan bahwa berkas eksternal dipakai ulang di banyak halaman dan dapat di-cache browser.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Tunjukkan anatomi aturan CSS, lalu minta mahasiswa menebak elemen mana yang dipilih oleh tiap selector di kanan.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Jika dua aturan bertabrakan, yang lebih spesifik menang. Pada bobot sama, aturan yang terakhir ditulis menang. Tunjukkan coretan pada panel Styles di DevTools.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Buka DevTools dan tunjukkan diagram box model pada panel Computed. Demokan perbedaan content-box dan border-box dengan width 300px dan padding 20px.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Tunjukkan pemilih warna di DevTools beserta rasio kontras. Jelaskan mengapa rem dianjurkan untuk ukuran font.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Demokan di VS Code: ubah justify-content dan align-items secara langsung dan minta mahasiswa memprediksi hasilnya.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Minta mahasiswa menebak posisi kotak sebelum Anda menampilkan jawabannya. Hubungkan dengan penempatan logo dan menu pada navigasi.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Tunjukkan pola auto-fit dengan minmax: jumlah kolom menyesuaikan lebar layar tanpa media query. Ubah lebar jendela browser sambil menjelaskan.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Jelaskan mobile-first: tulis gaya dasar untuk ponsel, lalu tambah min-width untuk layar yang lebih lebar. Uji dengan Toggle device toolbar.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Tekankan bahwa Tailwind tidak menggantikan pemahaman CSS dasar. Tailwind dipakai lagi di Laravel melalui Vite pada pertemuan 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Arahkan mahasiswa ke modul praktikum Pertemuan 3. Pengumpulan: laporan dan tautan GitHub sebelum pertemuan berikutnya.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Kuis cepat lisan: apa fungsi box-sizing border-box? Kapan memilih Flexbox dan kapan Grid? Mengapa mobile-first memakai min-width? Umumkan tugas dan tenggat.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371600"/>
            <a:ext cx="47548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017520"/>
            <a:ext cx="475488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Pemrograman Web · Pertemuan 3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137160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CSS3 dan Desain Responsif</a:t>
            </a:r>
            <a:endParaRPr lang="en-US" sz="4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301752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Pertemuan 3 · Selector, box model, Flexbox, Grid, dan Tailwind</a:t>
            </a:r>
            <a:endParaRPr lang="en-US" sz="1600" dirty="0"/>
          </a:p>
        </p:txBody>
      </p:sp>
      <p:sp>
        <p:nvSpPr>
          <p:cNvPr id="4" name="bm-margin"/>
          <p:cNvSpPr/>
          <p:nvPr/>
        </p:nvSpPr>
        <p:spPr>
          <a:xfrm>
            <a:off x="5577840" y="1005840"/>
            <a:ext cx="3108960" cy="3108960"/>
          </a:xfrm>
          <a:prstGeom prst="roundRect">
            <a:avLst>
              <a:gd name="adj" fmla="val 235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bm-t-margin"/>
          <p:cNvSpPr txBox="1"/>
          <p:nvPr/>
        </p:nvSpPr>
        <p:spPr>
          <a:xfrm>
            <a:off x="5687568" y="1042416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margin</a:t>
            </a:r>
            <a:endParaRPr lang="en-US" sz="1100" dirty="0"/>
          </a:p>
        </p:txBody>
      </p:sp>
      <p:sp>
        <p:nvSpPr>
          <p:cNvPr id="6" name="bm-border"/>
          <p:cNvSpPr/>
          <p:nvPr/>
        </p:nvSpPr>
        <p:spPr>
          <a:xfrm>
            <a:off x="5852160" y="1280160"/>
            <a:ext cx="2560320" cy="2560320"/>
          </a:xfrm>
          <a:prstGeom prst="roundRect">
            <a:avLst>
              <a:gd name="adj" fmla="val 285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bm-t-border"/>
          <p:cNvSpPr txBox="1"/>
          <p:nvPr/>
        </p:nvSpPr>
        <p:spPr>
          <a:xfrm>
            <a:off x="5961888" y="1316736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border</a:t>
            </a:r>
            <a:endParaRPr lang="en-US" sz="1100" dirty="0"/>
          </a:p>
        </p:txBody>
      </p:sp>
      <p:sp>
        <p:nvSpPr>
          <p:cNvPr id="8" name="bm-padding"/>
          <p:cNvSpPr/>
          <p:nvPr/>
        </p:nvSpPr>
        <p:spPr>
          <a:xfrm>
            <a:off x="6126480" y="1554480"/>
            <a:ext cx="2011680" cy="2011680"/>
          </a:xfrm>
          <a:prstGeom prst="roundRect">
            <a:avLst>
              <a:gd name="adj" fmla="val 363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bm-t-padding"/>
          <p:cNvSpPr txBox="1"/>
          <p:nvPr/>
        </p:nvSpPr>
        <p:spPr>
          <a:xfrm>
            <a:off x="6236208" y="159105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padding</a:t>
            </a:r>
            <a:endParaRPr lang="en-US" sz="1100" dirty="0"/>
          </a:p>
        </p:txBody>
      </p:sp>
      <p:sp>
        <p:nvSpPr>
          <p:cNvPr id="10" name="bm-content"/>
          <p:cNvSpPr/>
          <p:nvPr/>
        </p:nvSpPr>
        <p:spPr>
          <a:xfrm>
            <a:off x="6400800" y="1828800"/>
            <a:ext cx="1463040" cy="14630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1" name="bm-t-content"/>
          <p:cNvSpPr txBox="1"/>
          <p:nvPr/>
        </p:nvSpPr>
        <p:spPr>
          <a:xfrm>
            <a:off x="6510528" y="1865376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content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Capaian Pembelajaran</a:t>
            </a:r>
            <a:endParaRPr lang="en-US" sz="3400" dirty="0"/>
          </a:p>
        </p:txBody>
      </p:sp>
      <p:sp>
        <p:nvSpPr>
          <p:cNvPr id="4" name="cap-card0"/>
          <p:cNvSpPr/>
          <p:nvPr/>
        </p:nvSpPr>
        <p:spPr>
          <a:xfrm>
            <a:off x="548640" y="1371600"/>
            <a:ext cx="2560320" cy="292608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cap0-circle"/>
          <p:cNvSpPr/>
          <p:nvPr/>
        </p:nvSpPr>
        <p:spPr>
          <a:xfrm>
            <a:off x="777240" y="16002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cap0-num"/>
          <p:cNvSpPr txBox="1"/>
          <p:nvPr/>
        </p:nvSpPr>
        <p:spPr>
          <a:xfrm>
            <a:off x="77724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cap-h0"/>
          <p:cNvSpPr txBox="1"/>
          <p:nvPr/>
        </p:nvSpPr>
        <p:spPr>
          <a:xfrm>
            <a:off x="777240" y="2331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Dasar</a:t>
            </a:r>
            <a:endParaRPr lang="en-US" sz="2000" dirty="0"/>
          </a:p>
        </p:txBody>
      </p:sp>
      <p:sp>
        <p:nvSpPr>
          <p:cNvPr id="8" name="cap-p0"/>
          <p:cNvSpPr txBox="1"/>
          <p:nvPr/>
        </p:nvSpPr>
        <p:spPr>
          <a:xfrm>
            <a:off x="777240" y="278892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Menautkan CSS, memakai selector, dan memahami specificity serta box model.</a:t>
            </a:r>
            <a:endParaRPr lang="en-US" sz="1500" dirty="0"/>
          </a:p>
        </p:txBody>
      </p:sp>
      <p:sp>
        <p:nvSpPr>
          <p:cNvPr id="9" name="cap-card1"/>
          <p:cNvSpPr/>
          <p:nvPr/>
        </p:nvSpPr>
        <p:spPr>
          <a:xfrm>
            <a:off x="3291840" y="1371600"/>
            <a:ext cx="2560320" cy="292608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cap1-circle"/>
          <p:cNvSpPr/>
          <p:nvPr/>
        </p:nvSpPr>
        <p:spPr>
          <a:xfrm>
            <a:off x="3520440" y="160020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cap1-num"/>
          <p:cNvSpPr txBox="1"/>
          <p:nvPr/>
        </p:nvSpPr>
        <p:spPr>
          <a:xfrm>
            <a:off x="352044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cap-h1"/>
          <p:cNvSpPr txBox="1"/>
          <p:nvPr/>
        </p:nvSpPr>
        <p:spPr>
          <a:xfrm>
            <a:off x="3520440" y="2331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Tata letak</a:t>
            </a:r>
            <a:endParaRPr lang="en-US" sz="2000" dirty="0"/>
          </a:p>
        </p:txBody>
      </p:sp>
      <p:sp>
        <p:nvSpPr>
          <p:cNvPr id="13" name="cap-p1"/>
          <p:cNvSpPr txBox="1"/>
          <p:nvPr/>
        </p:nvSpPr>
        <p:spPr>
          <a:xfrm>
            <a:off x="3520440" y="278892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Menyusun halaman dengan Flexbox dan Grid.</a:t>
            </a:r>
            <a:endParaRPr lang="en-US" sz="1500" dirty="0"/>
          </a:p>
        </p:txBody>
      </p:sp>
      <p:sp>
        <p:nvSpPr>
          <p:cNvPr id="14" name="cap-card2"/>
          <p:cNvSpPr/>
          <p:nvPr/>
        </p:nvSpPr>
        <p:spPr>
          <a:xfrm>
            <a:off x="6035040" y="1371600"/>
            <a:ext cx="2560320" cy="292608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cap2-circle"/>
          <p:cNvSpPr/>
          <p:nvPr/>
        </p:nvSpPr>
        <p:spPr>
          <a:xfrm>
            <a:off x="6263640" y="160020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cap2-num"/>
          <p:cNvSpPr txBox="1"/>
          <p:nvPr/>
        </p:nvSpPr>
        <p:spPr>
          <a:xfrm>
            <a:off x="626364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cap-h2"/>
          <p:cNvSpPr txBox="1"/>
          <p:nvPr/>
        </p:nvSpPr>
        <p:spPr>
          <a:xfrm>
            <a:off x="6263640" y="2331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Responsif</a:t>
            </a:r>
            <a:endParaRPr lang="en-US" sz="2000" dirty="0"/>
          </a:p>
        </p:txBody>
      </p:sp>
      <p:sp>
        <p:nvSpPr>
          <p:cNvPr id="18" name="cap-p2"/>
          <p:cNvSpPr txBox="1"/>
          <p:nvPr/>
        </p:nvSpPr>
        <p:spPr>
          <a:xfrm>
            <a:off x="6263640" y="278892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Membuat tampilan mobile-first dan mengenal Tailwind CSS.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Tiga Cara Memasang CSS</a:t>
            </a:r>
            <a:endParaRPr lang="en-US" sz="3400" dirty="0"/>
          </a:p>
        </p:txBody>
      </p:sp>
      <p:sp>
        <p:nvSpPr>
          <p:cNvPr id="4" name="way-card0"/>
          <p:cNvSpPr/>
          <p:nvPr/>
        </p:nvSpPr>
        <p:spPr>
          <a:xfrm>
            <a:off x="548640" y="1280160"/>
            <a:ext cx="804672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way-h0"/>
          <p:cNvSpPr txBox="1"/>
          <p:nvPr/>
        </p:nvSpPr>
        <p:spPr>
          <a:xfrm>
            <a:off x="777240" y="1280160"/>
            <a:ext cx="1645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Inline</a:t>
            </a:r>
            <a:endParaRPr lang="en-US" sz="2000" dirty="0"/>
          </a:p>
        </p:txBody>
      </p:sp>
      <p:sp>
        <p:nvSpPr>
          <p:cNvPr id="6" name="way-code-bg0"/>
          <p:cNvSpPr/>
          <p:nvPr/>
        </p:nvSpPr>
        <p:spPr>
          <a:xfrm>
            <a:off x="2468880" y="1371600"/>
            <a:ext cx="4206240" cy="777240"/>
          </a:xfrm>
          <a:prstGeom prst="roundRect">
            <a:avLst>
              <a:gd name="adj" fmla="val 941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way-code0"/>
          <p:cNvSpPr txBox="1"/>
          <p:nvPr/>
        </p:nvSpPr>
        <p:spPr>
          <a:xfrm>
            <a:off x="2651760" y="137160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 style="color: red;"&gt;</a:t>
            </a:r>
            <a:endParaRPr lang="en-US" sz="1400" dirty="0"/>
          </a:p>
        </p:txBody>
      </p:sp>
      <p:sp>
        <p:nvSpPr>
          <p:cNvPr id="8" name="way-tag0"/>
          <p:cNvSpPr/>
          <p:nvPr/>
        </p:nvSpPr>
        <p:spPr>
          <a:xfrm>
            <a:off x="6903720" y="1554480"/>
            <a:ext cx="1508760" cy="411480"/>
          </a:xfrm>
          <a:prstGeom prst="roundRect">
            <a:avLst>
              <a:gd name="adj" fmla="val 44444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way-tag-t0"/>
          <p:cNvSpPr txBox="1"/>
          <p:nvPr/>
        </p:nvSpPr>
        <p:spPr>
          <a:xfrm>
            <a:off x="6903720" y="155448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Hindari</a:t>
            </a:r>
            <a:endParaRPr lang="en-US" sz="1400" dirty="0"/>
          </a:p>
        </p:txBody>
      </p:sp>
      <p:sp>
        <p:nvSpPr>
          <p:cNvPr id="10" name="way-card1"/>
          <p:cNvSpPr/>
          <p:nvPr/>
        </p:nvSpPr>
        <p:spPr>
          <a:xfrm>
            <a:off x="548640" y="2377440"/>
            <a:ext cx="804672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way-h1"/>
          <p:cNvSpPr txBox="1"/>
          <p:nvPr/>
        </p:nvSpPr>
        <p:spPr>
          <a:xfrm>
            <a:off x="777240" y="2377440"/>
            <a:ext cx="1645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Internal</a:t>
            </a:r>
            <a:endParaRPr lang="en-US" sz="2000" dirty="0"/>
          </a:p>
        </p:txBody>
      </p:sp>
      <p:sp>
        <p:nvSpPr>
          <p:cNvPr id="12" name="way-code-bg1"/>
          <p:cNvSpPr/>
          <p:nvPr/>
        </p:nvSpPr>
        <p:spPr>
          <a:xfrm>
            <a:off x="2468880" y="2468880"/>
            <a:ext cx="4206240" cy="777240"/>
          </a:xfrm>
          <a:prstGeom prst="roundRect">
            <a:avLst>
              <a:gd name="adj" fmla="val 941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way-code1"/>
          <p:cNvSpPr txBox="1"/>
          <p:nvPr/>
        </p:nvSpPr>
        <p:spPr>
          <a:xfrm>
            <a:off x="2651760" y="246888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&lt;style&gt;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 { color: red; }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&lt;/style&gt;</a:t>
            </a:r>
            <a:endParaRPr lang="en-US" sz="1400" dirty="0"/>
          </a:p>
        </p:txBody>
      </p:sp>
      <p:sp>
        <p:nvSpPr>
          <p:cNvPr id="14" name="way-tag1"/>
          <p:cNvSpPr/>
          <p:nvPr/>
        </p:nvSpPr>
        <p:spPr>
          <a:xfrm>
            <a:off x="6903720" y="2651760"/>
            <a:ext cx="1508760" cy="411480"/>
          </a:xfrm>
          <a:prstGeom prst="roundRect">
            <a:avLst>
              <a:gd name="adj" fmla="val 44444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way-tag-t1"/>
          <p:cNvSpPr txBox="1"/>
          <p:nvPr/>
        </p:nvSpPr>
        <p:spPr>
          <a:xfrm>
            <a:off x="6903720" y="265176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Uji cepat</a:t>
            </a:r>
            <a:endParaRPr lang="en-US" sz="1400" dirty="0"/>
          </a:p>
        </p:txBody>
      </p:sp>
      <p:sp>
        <p:nvSpPr>
          <p:cNvPr id="16" name="way-card2"/>
          <p:cNvSpPr/>
          <p:nvPr/>
        </p:nvSpPr>
        <p:spPr>
          <a:xfrm>
            <a:off x="548640" y="3474720"/>
            <a:ext cx="804672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way-h2"/>
          <p:cNvSpPr txBox="1"/>
          <p:nvPr/>
        </p:nvSpPr>
        <p:spPr>
          <a:xfrm>
            <a:off x="777240" y="3474720"/>
            <a:ext cx="1645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Eksternal</a:t>
            </a:r>
            <a:endParaRPr lang="en-US" sz="2000" dirty="0"/>
          </a:p>
        </p:txBody>
      </p:sp>
      <p:sp>
        <p:nvSpPr>
          <p:cNvPr id="18" name="way-code-bg2"/>
          <p:cNvSpPr/>
          <p:nvPr/>
        </p:nvSpPr>
        <p:spPr>
          <a:xfrm>
            <a:off x="2468880" y="3566160"/>
            <a:ext cx="4206240" cy="777240"/>
          </a:xfrm>
          <a:prstGeom prst="roundRect">
            <a:avLst>
              <a:gd name="adj" fmla="val 941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9" name="way-code2"/>
          <p:cNvSpPr txBox="1"/>
          <p:nvPr/>
        </p:nvSpPr>
        <p:spPr>
          <a:xfrm>
            <a:off x="2651760" y="356616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&lt;link rel="stylesheet"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href="css/style.css"&gt;</a:t>
            </a:r>
            <a:endParaRPr lang="en-US" sz="1400" dirty="0"/>
          </a:p>
        </p:txBody>
      </p:sp>
      <p:sp>
        <p:nvSpPr>
          <p:cNvPr id="20" name="way-tag2"/>
          <p:cNvSpPr/>
          <p:nvPr/>
        </p:nvSpPr>
        <p:spPr>
          <a:xfrm>
            <a:off x="6903720" y="3749040"/>
            <a:ext cx="1508760" cy="411480"/>
          </a:xfrm>
          <a:prstGeom prst="roundRect">
            <a:avLst>
              <a:gd name="adj" fmla="val 44444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way-tag-t2"/>
          <p:cNvSpPr txBox="1"/>
          <p:nvPr/>
        </p:nvSpPr>
        <p:spPr>
          <a:xfrm>
            <a:off x="6903720" y="374904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Dianjurkan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Sintaks dan Selector</a:t>
            </a:r>
            <a:endParaRPr lang="en-US" sz="3400" dirty="0"/>
          </a:p>
        </p:txBody>
      </p:sp>
      <p:sp>
        <p:nvSpPr>
          <p:cNvPr id="4" name="syn-card"/>
          <p:cNvSpPr/>
          <p:nvPr/>
        </p:nvSpPr>
        <p:spPr>
          <a:xfrm>
            <a:off x="548640" y="1280160"/>
            <a:ext cx="4206240" cy="3200400"/>
          </a:xfrm>
          <a:prstGeom prst="roundRect">
            <a:avLst>
              <a:gd name="adj" fmla="val 342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yn-code"/>
          <p:cNvSpPr txBox="1"/>
          <p:nvPr/>
        </p:nvSpPr>
        <p:spPr>
          <a:xfrm>
            <a:off x="777240" y="150876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</a:t>
            </a:r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</a:t>
            </a:r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#10243e;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font-size</a:t>
            </a:r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2rem;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800" dirty="0"/>
          </a:p>
        </p:txBody>
      </p:sp>
      <p:sp>
        <p:nvSpPr>
          <p:cNvPr id="6" name="syn-dot0"/>
          <p:cNvSpPr/>
          <p:nvPr/>
        </p:nvSpPr>
        <p:spPr>
          <a:xfrm>
            <a:off x="777240" y="3081528"/>
            <a:ext cx="201168" cy="20116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syn-l0"/>
          <p:cNvSpPr txBox="1"/>
          <p:nvPr/>
        </p:nvSpPr>
        <p:spPr>
          <a:xfrm>
            <a:off x="1097280" y="30175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Selector: </a:t>
            </a:r>
            <a:pPr algn="l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elemen yang dipilih</a:t>
            </a:r>
            <a:endParaRPr lang="en-US" sz="1400" dirty="0"/>
          </a:p>
        </p:txBody>
      </p:sp>
      <p:sp>
        <p:nvSpPr>
          <p:cNvPr id="8" name="syn-dot1"/>
          <p:cNvSpPr/>
          <p:nvPr/>
        </p:nvSpPr>
        <p:spPr>
          <a:xfrm>
            <a:off x="777240" y="3557016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syn-l1"/>
          <p:cNvSpPr txBox="1"/>
          <p:nvPr/>
        </p:nvSpPr>
        <p:spPr>
          <a:xfrm>
            <a:off x="1097280" y="349300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Properti: </a:t>
            </a:r>
            <a:pPr algn="l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apa yang diatur</a:t>
            </a:r>
            <a:endParaRPr lang="en-US" sz="1400" dirty="0"/>
          </a:p>
        </p:txBody>
      </p:sp>
      <p:sp>
        <p:nvSpPr>
          <p:cNvPr id="10" name="syn-dot2"/>
          <p:cNvSpPr/>
          <p:nvPr/>
        </p:nvSpPr>
        <p:spPr>
          <a:xfrm>
            <a:off x="777240" y="4032504"/>
            <a:ext cx="201168" cy="20116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1" name="syn-l2"/>
          <p:cNvSpPr txBox="1"/>
          <p:nvPr/>
        </p:nvSpPr>
        <p:spPr>
          <a:xfrm>
            <a:off x="1097280" y="396849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Nilai: </a:t>
            </a:r>
            <a:pPr algn="l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bagaimana mengaturnya</a:t>
            </a:r>
            <a:endParaRPr lang="en-US" sz="1400" dirty="0"/>
          </a:p>
        </p:txBody>
      </p:sp>
      <p:sp>
        <p:nvSpPr>
          <p:cNvPr id="12" name="sel-card0"/>
          <p:cNvSpPr/>
          <p:nvPr/>
        </p:nvSpPr>
        <p:spPr>
          <a:xfrm>
            <a:off x="5029200" y="1280160"/>
            <a:ext cx="3566160" cy="566928"/>
          </a:xfrm>
          <a:prstGeom prst="roundRect">
            <a:avLst>
              <a:gd name="adj" fmla="val 193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el-n0"/>
          <p:cNvSpPr txBox="1"/>
          <p:nvPr/>
        </p:nvSpPr>
        <p:spPr>
          <a:xfrm>
            <a:off x="5212080" y="128016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endParaRPr lang="en-US" sz="1500" dirty="0"/>
          </a:p>
        </p:txBody>
      </p:sp>
      <p:sp>
        <p:nvSpPr>
          <p:cNvPr id="14" name="sel-d0"/>
          <p:cNvSpPr txBox="1"/>
          <p:nvPr/>
        </p:nvSpPr>
        <p:spPr>
          <a:xfrm>
            <a:off x="6583680" y="128016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semua elemen p</a:t>
            </a:r>
            <a:endParaRPr lang="en-US" sz="1400" dirty="0"/>
          </a:p>
        </p:txBody>
      </p:sp>
      <p:sp>
        <p:nvSpPr>
          <p:cNvPr id="15" name="sel-card1"/>
          <p:cNvSpPr/>
          <p:nvPr/>
        </p:nvSpPr>
        <p:spPr>
          <a:xfrm>
            <a:off x="5029200" y="1938528"/>
            <a:ext cx="3566160" cy="566928"/>
          </a:xfrm>
          <a:prstGeom prst="roundRect">
            <a:avLst>
              <a:gd name="adj" fmla="val 193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el-n1"/>
          <p:cNvSpPr txBox="1"/>
          <p:nvPr/>
        </p:nvSpPr>
        <p:spPr>
          <a:xfrm>
            <a:off x="5212080" y="193852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.kartu</a:t>
            </a:r>
            <a:endParaRPr lang="en-US" sz="1500" dirty="0"/>
          </a:p>
        </p:txBody>
      </p:sp>
      <p:sp>
        <p:nvSpPr>
          <p:cNvPr id="17" name="sel-d1"/>
          <p:cNvSpPr txBox="1"/>
          <p:nvPr/>
        </p:nvSpPr>
        <p:spPr>
          <a:xfrm>
            <a:off x="6583680" y="193852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class kartu</a:t>
            </a:r>
            <a:endParaRPr lang="en-US" sz="1400" dirty="0"/>
          </a:p>
        </p:txBody>
      </p:sp>
      <p:sp>
        <p:nvSpPr>
          <p:cNvPr id="18" name="sel-card2"/>
          <p:cNvSpPr/>
          <p:nvPr/>
        </p:nvSpPr>
        <p:spPr>
          <a:xfrm>
            <a:off x="5029200" y="2596896"/>
            <a:ext cx="3566160" cy="566928"/>
          </a:xfrm>
          <a:prstGeom prst="roundRect">
            <a:avLst>
              <a:gd name="adj" fmla="val 193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el-n2"/>
          <p:cNvSpPr txBox="1"/>
          <p:nvPr/>
        </p:nvSpPr>
        <p:spPr>
          <a:xfrm>
            <a:off x="5212080" y="2596896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#minat</a:t>
            </a:r>
            <a:endParaRPr lang="en-US" sz="1500" dirty="0"/>
          </a:p>
        </p:txBody>
      </p:sp>
      <p:sp>
        <p:nvSpPr>
          <p:cNvPr id="20" name="sel-d2"/>
          <p:cNvSpPr txBox="1"/>
          <p:nvPr/>
        </p:nvSpPr>
        <p:spPr>
          <a:xfrm>
            <a:off x="6583680" y="2596896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satu elemen ber-id</a:t>
            </a:r>
            <a:endParaRPr lang="en-US" sz="1400" dirty="0"/>
          </a:p>
        </p:txBody>
      </p:sp>
      <p:sp>
        <p:nvSpPr>
          <p:cNvPr id="21" name="sel-card3"/>
          <p:cNvSpPr/>
          <p:nvPr/>
        </p:nvSpPr>
        <p:spPr>
          <a:xfrm>
            <a:off x="5029200" y="3255264"/>
            <a:ext cx="3566160" cy="566928"/>
          </a:xfrm>
          <a:prstGeom prst="roundRect">
            <a:avLst>
              <a:gd name="adj" fmla="val 193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el-n3"/>
          <p:cNvSpPr txBox="1"/>
          <p:nvPr/>
        </p:nvSpPr>
        <p:spPr>
          <a:xfrm>
            <a:off x="5212080" y="3255264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nav a</a:t>
            </a:r>
            <a:endParaRPr lang="en-US" sz="1500" dirty="0"/>
          </a:p>
        </p:txBody>
      </p:sp>
      <p:sp>
        <p:nvSpPr>
          <p:cNvPr id="23" name="sel-d3"/>
          <p:cNvSpPr txBox="1"/>
          <p:nvPr/>
        </p:nvSpPr>
        <p:spPr>
          <a:xfrm>
            <a:off x="6583680" y="3255264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di dalam nav</a:t>
            </a:r>
            <a:endParaRPr lang="en-US" sz="1400" dirty="0"/>
          </a:p>
        </p:txBody>
      </p:sp>
      <p:sp>
        <p:nvSpPr>
          <p:cNvPr id="24" name="sel-card4"/>
          <p:cNvSpPr/>
          <p:nvPr/>
        </p:nvSpPr>
        <p:spPr>
          <a:xfrm>
            <a:off x="5029200" y="3913632"/>
            <a:ext cx="3566160" cy="566928"/>
          </a:xfrm>
          <a:prstGeom prst="roundRect">
            <a:avLst>
              <a:gd name="adj" fmla="val 193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el-n4"/>
          <p:cNvSpPr txBox="1"/>
          <p:nvPr/>
        </p:nvSpPr>
        <p:spPr>
          <a:xfrm>
            <a:off x="5212080" y="3913632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a:hover</a:t>
            </a:r>
            <a:endParaRPr lang="en-US" sz="1500" dirty="0"/>
          </a:p>
        </p:txBody>
      </p:sp>
      <p:sp>
        <p:nvSpPr>
          <p:cNvPr id="26" name="sel-d4"/>
          <p:cNvSpPr txBox="1"/>
          <p:nvPr/>
        </p:nvSpPr>
        <p:spPr>
          <a:xfrm>
            <a:off x="6583680" y="391363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saat kursor di atas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Cascade dan Specificity</a:t>
            </a:r>
            <a:endParaRPr lang="en-US" sz="3400" dirty="0"/>
          </a:p>
        </p:txBody>
      </p:sp>
      <p:sp>
        <p:nvSpPr>
          <p:cNvPr id="4" name="spec-top"/>
          <p:cNvSpPr txBox="1"/>
          <p:nvPr/>
        </p:nvSpPr>
        <p:spPr>
          <a:xfrm>
            <a:off x="548640" y="1188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Prioritas tinggi</a:t>
            </a:r>
            <a:endParaRPr lang="en-US" sz="1200" dirty="0"/>
          </a:p>
        </p:txBody>
      </p:sp>
      <p:sp>
        <p:nvSpPr>
          <p:cNvPr id="5" name="spec-bar0"/>
          <p:cNvSpPr/>
          <p:nvPr/>
        </p:nvSpPr>
        <p:spPr>
          <a:xfrm>
            <a:off x="548640" y="1508760"/>
            <a:ext cx="8046720" cy="548640"/>
          </a:xfrm>
          <a:prstGeom prst="roundRect">
            <a:avLst>
              <a:gd name="adj" fmla="val 1333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spec-t0"/>
          <p:cNvSpPr txBox="1"/>
          <p:nvPr/>
        </p:nvSpPr>
        <p:spPr>
          <a:xfrm>
            <a:off x="777240" y="15087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style="..." (inline)</a:t>
            </a:r>
            <a:endParaRPr lang="en-US" sz="1500" dirty="0"/>
          </a:p>
        </p:txBody>
      </p:sp>
      <p:sp>
        <p:nvSpPr>
          <p:cNvPr id="7" name="spec-bar1"/>
          <p:cNvSpPr/>
          <p:nvPr/>
        </p:nvSpPr>
        <p:spPr>
          <a:xfrm>
            <a:off x="548640" y="2194560"/>
            <a:ext cx="6400800" cy="54864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spec-t1"/>
          <p:cNvSpPr txBox="1"/>
          <p:nvPr/>
        </p:nvSpPr>
        <p:spPr>
          <a:xfrm>
            <a:off x="777240" y="2194560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#id</a:t>
            </a:r>
            <a:endParaRPr lang="en-US" sz="1500" dirty="0"/>
          </a:p>
        </p:txBody>
      </p:sp>
      <p:sp>
        <p:nvSpPr>
          <p:cNvPr id="9" name="spec-bar2"/>
          <p:cNvSpPr/>
          <p:nvPr/>
        </p:nvSpPr>
        <p:spPr>
          <a:xfrm>
            <a:off x="548640" y="2880360"/>
            <a:ext cx="4754880" cy="548640"/>
          </a:xfrm>
          <a:prstGeom prst="roundRect">
            <a:avLst>
              <a:gd name="adj" fmla="val 13333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spec-t2"/>
          <p:cNvSpPr txBox="1"/>
          <p:nvPr/>
        </p:nvSpPr>
        <p:spPr>
          <a:xfrm>
            <a:off x="777240" y="288036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.class, [atribut], :hover</a:t>
            </a:r>
            <a:endParaRPr lang="en-US" sz="1500" dirty="0"/>
          </a:p>
        </p:txBody>
      </p:sp>
      <p:sp>
        <p:nvSpPr>
          <p:cNvPr id="11" name="spec-bar3"/>
          <p:cNvSpPr/>
          <p:nvPr/>
        </p:nvSpPr>
        <p:spPr>
          <a:xfrm>
            <a:off x="548640" y="3566160"/>
            <a:ext cx="310896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spec-t3"/>
          <p:cNvSpPr txBox="1"/>
          <p:nvPr/>
        </p:nvSpPr>
        <p:spPr>
          <a:xfrm>
            <a:off x="777240" y="35661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elemen: p, h1</a:t>
            </a:r>
            <a:endParaRPr lang="en-US" sz="1500" dirty="0"/>
          </a:p>
        </p:txBody>
      </p:sp>
      <p:sp>
        <p:nvSpPr>
          <p:cNvPr id="13" name="spec-bot"/>
          <p:cNvSpPr txBox="1"/>
          <p:nvPr/>
        </p:nvSpPr>
        <p:spPr>
          <a:xfrm>
            <a:off x="548640" y="4251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Prioritas rendah</a:t>
            </a:r>
            <a:endParaRPr lang="en-US" sz="1200" dirty="0"/>
          </a:p>
        </p:txBody>
      </p:sp>
      <p:sp>
        <p:nvSpPr>
          <p:cNvPr id="14" name="spec-note"/>
          <p:cNvSpPr/>
          <p:nvPr/>
        </p:nvSpPr>
        <p:spPr>
          <a:xfrm>
            <a:off x="3840480" y="4114800"/>
            <a:ext cx="4754880" cy="502920"/>
          </a:xfrm>
          <a:prstGeom prst="roundRect">
            <a:avLst>
              <a:gd name="adj" fmla="val 218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pec-note-t"/>
          <p:cNvSpPr txBox="1"/>
          <p:nvPr/>
        </p:nvSpPr>
        <p:spPr>
          <a:xfrm>
            <a:off x="4023360" y="411480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Hindari !important; gunakan class.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Box Model</a:t>
            </a:r>
            <a:endParaRPr lang="en-US" sz="3400" dirty="0"/>
          </a:p>
        </p:txBody>
      </p:sp>
      <p:sp>
        <p:nvSpPr>
          <p:cNvPr id="4" name="bm-margin"/>
          <p:cNvSpPr/>
          <p:nvPr/>
        </p:nvSpPr>
        <p:spPr>
          <a:xfrm>
            <a:off x="548640" y="1280160"/>
            <a:ext cx="4023360" cy="3200400"/>
          </a:xfrm>
          <a:prstGeom prst="roundRect">
            <a:avLst>
              <a:gd name="adj" fmla="val 2286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bm-t-margin"/>
          <p:cNvSpPr txBox="1"/>
          <p:nvPr/>
        </p:nvSpPr>
        <p:spPr>
          <a:xfrm>
            <a:off x="685800" y="13350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margin</a:t>
            </a:r>
            <a:endParaRPr lang="en-US" sz="1300" dirty="0"/>
          </a:p>
        </p:txBody>
      </p:sp>
      <p:sp>
        <p:nvSpPr>
          <p:cNvPr id="6" name="bm-border"/>
          <p:cNvSpPr/>
          <p:nvPr/>
        </p:nvSpPr>
        <p:spPr>
          <a:xfrm>
            <a:off x="914400" y="1691640"/>
            <a:ext cx="3291840" cy="2377440"/>
          </a:xfrm>
          <a:prstGeom prst="roundRect">
            <a:avLst>
              <a:gd name="adj" fmla="val 307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bm-t-border"/>
          <p:cNvSpPr txBox="1"/>
          <p:nvPr/>
        </p:nvSpPr>
        <p:spPr>
          <a:xfrm>
            <a:off x="1051560" y="17465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border</a:t>
            </a:r>
            <a:endParaRPr lang="en-US" sz="1300" dirty="0"/>
          </a:p>
        </p:txBody>
      </p:sp>
      <p:sp>
        <p:nvSpPr>
          <p:cNvPr id="8" name="bm-padding"/>
          <p:cNvSpPr/>
          <p:nvPr/>
        </p:nvSpPr>
        <p:spPr>
          <a:xfrm>
            <a:off x="1280160" y="2103120"/>
            <a:ext cx="2560320" cy="1554480"/>
          </a:xfrm>
          <a:prstGeom prst="roundRect">
            <a:avLst>
              <a:gd name="adj" fmla="val 470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bm-t-padding"/>
          <p:cNvSpPr txBox="1"/>
          <p:nvPr/>
        </p:nvSpPr>
        <p:spPr>
          <a:xfrm>
            <a:off x="1417320" y="215798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padding</a:t>
            </a:r>
            <a:endParaRPr lang="en-US" sz="1300" dirty="0"/>
          </a:p>
        </p:txBody>
      </p:sp>
      <p:sp>
        <p:nvSpPr>
          <p:cNvPr id="10" name="bm-content"/>
          <p:cNvSpPr/>
          <p:nvPr/>
        </p:nvSpPr>
        <p:spPr>
          <a:xfrm>
            <a:off x="1691640" y="2514600"/>
            <a:ext cx="1737360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1" name="bm-t-content"/>
          <p:cNvSpPr txBox="1"/>
          <p:nvPr/>
        </p:nvSpPr>
        <p:spPr>
          <a:xfrm>
            <a:off x="1828800" y="2569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content</a:t>
            </a:r>
            <a:endParaRPr lang="en-US" sz="1300" dirty="0"/>
          </a:p>
        </p:txBody>
      </p:sp>
      <p:sp>
        <p:nvSpPr>
          <p:cNvPr id="12" name="bm-note1"/>
          <p:cNvSpPr/>
          <p:nvPr/>
        </p:nvSpPr>
        <p:spPr>
          <a:xfrm>
            <a:off x="4846320" y="1280160"/>
            <a:ext cx="374904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bm-n1"/>
          <p:cNvSpPr txBox="1"/>
          <p:nvPr/>
        </p:nvSpPr>
        <p:spPr>
          <a:xfrm>
            <a:off x="5029200" y="141732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Lebar total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content-box: lebar + padding + border</a:t>
            </a:r>
            <a:endParaRPr lang="en-US" sz="1500" dirty="0"/>
          </a:p>
        </p:txBody>
      </p:sp>
      <p:sp>
        <p:nvSpPr>
          <p:cNvPr id="14" name="bm-code"/>
          <p:cNvSpPr/>
          <p:nvPr/>
        </p:nvSpPr>
        <p:spPr>
          <a:xfrm>
            <a:off x="4846320" y="2697480"/>
            <a:ext cx="3749040" cy="1783080"/>
          </a:xfrm>
          <a:prstGeom prst="roundRect">
            <a:avLst>
              <a:gd name="adj" fmla="val 615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bm-code-t"/>
          <p:cNvSpPr txBox="1"/>
          <p:nvPr/>
        </p:nvSpPr>
        <p:spPr>
          <a:xfrm>
            <a:off x="5029200" y="288036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{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box-sizing: border-box;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16" name="bm-code-c"/>
          <p:cNvSpPr txBox="1"/>
          <p:nvPr/>
        </p:nvSpPr>
        <p:spPr>
          <a:xfrm>
            <a:off x="5029200" y="370332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Lebar mencakup padding dan border; pasang di awal setiap proyek.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Warna, Satuan, Tipografi</a:t>
            </a:r>
            <a:endParaRPr lang="en-US" sz="3400" dirty="0"/>
          </a:p>
        </p:txBody>
      </p:sp>
      <p:sp>
        <p:nvSpPr>
          <p:cNvPr id="4" name="sw0"/>
          <p:cNvSpPr/>
          <p:nvPr/>
        </p:nvSpPr>
        <p:spPr>
          <a:xfrm>
            <a:off x="548640" y="1280160"/>
            <a:ext cx="822960" cy="118872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 w="12700">
            <a:solidFill>
              <a:srgbClr val="BFC9D1"/>
            </a:solidFill>
            <a:prstDash val="solid"/>
          </a:ln>
        </p:spPr>
      </p:sp>
      <p:sp>
        <p:nvSpPr>
          <p:cNvPr id="5" name="sw-h0"/>
          <p:cNvSpPr txBox="1"/>
          <p:nvPr/>
        </p:nvSpPr>
        <p:spPr>
          <a:xfrm>
            <a:off x="502920" y="25420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0E7C86</a:t>
            </a:r>
            <a:endParaRPr lang="en-US" sz="1200" dirty="0"/>
          </a:p>
        </p:txBody>
      </p:sp>
      <p:sp>
        <p:nvSpPr>
          <p:cNvPr id="6" name="sw-n0"/>
          <p:cNvSpPr txBox="1"/>
          <p:nvPr/>
        </p:nvSpPr>
        <p:spPr>
          <a:xfrm>
            <a:off x="502920" y="2788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utama</a:t>
            </a:r>
            <a:endParaRPr lang="en-US" sz="1200" dirty="0"/>
          </a:p>
        </p:txBody>
      </p:sp>
      <p:sp>
        <p:nvSpPr>
          <p:cNvPr id="7" name="sw1"/>
          <p:cNvSpPr/>
          <p:nvPr/>
        </p:nvSpPr>
        <p:spPr>
          <a:xfrm>
            <a:off x="1463040" y="1280160"/>
            <a:ext cx="822960" cy="1188720"/>
          </a:xfrm>
          <a:prstGeom prst="roundRect">
            <a:avLst>
              <a:gd name="adj" fmla="val 11111"/>
            </a:avLst>
          </a:prstGeom>
          <a:solidFill>
            <a:schemeClr val="tx2"/>
          </a:solidFill>
          <a:ln w="12700">
            <a:solidFill>
              <a:srgbClr val="BFC9D1"/>
            </a:solidFill>
            <a:prstDash val="solid"/>
          </a:ln>
        </p:spPr>
      </p:sp>
      <p:sp>
        <p:nvSpPr>
          <p:cNvPr id="8" name="sw-h1"/>
          <p:cNvSpPr txBox="1"/>
          <p:nvPr/>
        </p:nvSpPr>
        <p:spPr>
          <a:xfrm>
            <a:off x="1417320" y="25420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10243E</a:t>
            </a:r>
            <a:endParaRPr lang="en-US" sz="1200" dirty="0"/>
          </a:p>
        </p:txBody>
      </p:sp>
      <p:sp>
        <p:nvSpPr>
          <p:cNvPr id="9" name="sw-n1"/>
          <p:cNvSpPr txBox="1"/>
          <p:nvPr/>
        </p:nvSpPr>
        <p:spPr>
          <a:xfrm>
            <a:off x="1417320" y="2788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gelap</a:t>
            </a:r>
            <a:endParaRPr lang="en-US" sz="1200" dirty="0"/>
          </a:p>
        </p:txBody>
      </p:sp>
      <p:sp>
        <p:nvSpPr>
          <p:cNvPr id="10" name="sw2"/>
          <p:cNvSpPr/>
          <p:nvPr/>
        </p:nvSpPr>
        <p:spPr>
          <a:xfrm>
            <a:off x="2377440" y="1280160"/>
            <a:ext cx="822960" cy="1188720"/>
          </a:xfrm>
          <a:prstGeom prst="roundRect">
            <a:avLst>
              <a:gd name="adj" fmla="val 11111"/>
            </a:avLst>
          </a:prstGeom>
          <a:solidFill>
            <a:schemeClr val="accent3"/>
          </a:solidFill>
          <a:ln w="12700">
            <a:solidFill>
              <a:srgbClr val="BFC9D1"/>
            </a:solidFill>
            <a:prstDash val="solid"/>
          </a:ln>
        </p:spPr>
      </p:sp>
      <p:sp>
        <p:nvSpPr>
          <p:cNvPr id="11" name="sw-h2"/>
          <p:cNvSpPr txBox="1"/>
          <p:nvPr/>
        </p:nvSpPr>
        <p:spPr>
          <a:xfrm>
            <a:off x="2331720" y="25420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3F6FB5</a:t>
            </a:r>
            <a:endParaRPr lang="en-US" sz="1200" dirty="0"/>
          </a:p>
        </p:txBody>
      </p:sp>
      <p:sp>
        <p:nvSpPr>
          <p:cNvPr id="12" name="sw-n2"/>
          <p:cNvSpPr txBox="1"/>
          <p:nvPr/>
        </p:nvSpPr>
        <p:spPr>
          <a:xfrm>
            <a:off x="2331720" y="2788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biru</a:t>
            </a:r>
            <a:endParaRPr lang="en-US" sz="1200" dirty="0"/>
          </a:p>
        </p:txBody>
      </p:sp>
      <p:sp>
        <p:nvSpPr>
          <p:cNvPr id="13" name="sw3"/>
          <p:cNvSpPr/>
          <p:nvPr/>
        </p:nvSpPr>
        <p:spPr>
          <a:xfrm>
            <a:off x="3291840" y="1280160"/>
            <a:ext cx="822960" cy="1188720"/>
          </a:xfrm>
          <a:prstGeom prst="roundRect">
            <a:avLst>
              <a:gd name="adj" fmla="val 11111"/>
            </a:avLst>
          </a:prstGeom>
          <a:solidFill>
            <a:schemeClr val="accent2"/>
          </a:solidFill>
          <a:ln w="12700">
            <a:solidFill>
              <a:srgbClr val="BFC9D1"/>
            </a:solidFill>
            <a:prstDash val="solid"/>
          </a:ln>
        </p:spPr>
      </p:sp>
      <p:sp>
        <p:nvSpPr>
          <p:cNvPr id="14" name="sw-h3"/>
          <p:cNvSpPr txBox="1"/>
          <p:nvPr/>
        </p:nvSpPr>
        <p:spPr>
          <a:xfrm>
            <a:off x="3246120" y="25420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F2A541</a:t>
            </a:r>
            <a:endParaRPr lang="en-US" sz="1200" dirty="0"/>
          </a:p>
        </p:txBody>
      </p:sp>
      <p:sp>
        <p:nvSpPr>
          <p:cNvPr id="15" name="sw-n3"/>
          <p:cNvSpPr txBox="1"/>
          <p:nvPr/>
        </p:nvSpPr>
        <p:spPr>
          <a:xfrm>
            <a:off x="3246120" y="2788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aksen</a:t>
            </a:r>
            <a:endParaRPr lang="en-US" sz="1200" dirty="0"/>
          </a:p>
        </p:txBody>
      </p:sp>
      <p:sp>
        <p:nvSpPr>
          <p:cNvPr id="16" name="sw4"/>
          <p:cNvSpPr/>
          <p:nvPr/>
        </p:nvSpPr>
        <p:spPr>
          <a:xfrm>
            <a:off x="4206240" y="1280160"/>
            <a:ext cx="822960" cy="1188720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2700">
            <a:solidFill>
              <a:srgbClr val="BFC9D1"/>
            </a:solidFill>
            <a:prstDash val="solid"/>
          </a:ln>
        </p:spPr>
      </p:sp>
      <p:sp>
        <p:nvSpPr>
          <p:cNvPr id="17" name="sw-h4"/>
          <p:cNvSpPr txBox="1"/>
          <p:nvPr/>
        </p:nvSpPr>
        <p:spPr>
          <a:xfrm>
            <a:off x="4160520" y="25420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EAF3F6</a:t>
            </a:r>
            <a:endParaRPr lang="en-US" sz="1200" dirty="0"/>
          </a:p>
        </p:txBody>
      </p:sp>
      <p:sp>
        <p:nvSpPr>
          <p:cNvPr id="18" name="sw-n4"/>
          <p:cNvSpPr txBox="1"/>
          <p:nvPr/>
        </p:nvSpPr>
        <p:spPr>
          <a:xfrm>
            <a:off x="4160520" y="2788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latar</a:t>
            </a:r>
            <a:endParaRPr lang="en-US" sz="1200" dirty="0"/>
          </a:p>
        </p:txBody>
      </p:sp>
      <p:sp>
        <p:nvSpPr>
          <p:cNvPr id="19" name="font-card"/>
          <p:cNvSpPr/>
          <p:nvPr/>
        </p:nvSpPr>
        <p:spPr>
          <a:xfrm>
            <a:off x="548640" y="3291840"/>
            <a:ext cx="448056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font-sample"/>
          <p:cNvSpPr txBox="1"/>
          <p:nvPr/>
        </p:nvSpPr>
        <p:spPr>
          <a:xfrm>
            <a:off x="777240" y="338328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Judul Contoh</a:t>
            </a:r>
            <a:endParaRPr lang="en-US" sz="2600" dirty="0"/>
          </a:p>
        </p:txBody>
      </p:sp>
      <p:sp>
        <p:nvSpPr>
          <p:cNvPr id="21" name="font-code"/>
          <p:cNvSpPr txBox="1"/>
          <p:nvPr/>
        </p:nvSpPr>
        <p:spPr>
          <a:xfrm>
            <a:off x="777240" y="39319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font-family: "Segoe UI", Arial, sans-serif;</a:t>
            </a:r>
            <a:endParaRPr lang="en-US" sz="1400" dirty="0"/>
          </a:p>
        </p:txBody>
      </p:sp>
      <p:sp>
        <p:nvSpPr>
          <p:cNvPr id="22" name="un-card0"/>
          <p:cNvSpPr/>
          <p:nvPr/>
        </p:nvSpPr>
        <p:spPr>
          <a:xfrm>
            <a:off x="5303520" y="1280160"/>
            <a:ext cx="3291840" cy="713232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un-n0"/>
          <p:cNvSpPr txBox="1"/>
          <p:nvPr/>
        </p:nvSpPr>
        <p:spPr>
          <a:xfrm>
            <a:off x="5486400" y="1280160"/>
            <a:ext cx="1097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px</a:t>
            </a:r>
            <a:endParaRPr lang="en-US" sz="1600" dirty="0"/>
          </a:p>
        </p:txBody>
      </p:sp>
      <p:sp>
        <p:nvSpPr>
          <p:cNvPr id="24" name="un-d0"/>
          <p:cNvSpPr txBox="1"/>
          <p:nvPr/>
        </p:nvSpPr>
        <p:spPr>
          <a:xfrm>
            <a:off x="6583680" y="1280160"/>
            <a:ext cx="1920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piksel layar, absolut</a:t>
            </a:r>
            <a:endParaRPr lang="en-US" sz="1400" dirty="0"/>
          </a:p>
        </p:txBody>
      </p:sp>
      <p:sp>
        <p:nvSpPr>
          <p:cNvPr id="25" name="un-card1"/>
          <p:cNvSpPr/>
          <p:nvPr/>
        </p:nvSpPr>
        <p:spPr>
          <a:xfrm>
            <a:off x="5303520" y="2084832"/>
            <a:ext cx="3291840" cy="713232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un-n1"/>
          <p:cNvSpPr txBox="1"/>
          <p:nvPr/>
        </p:nvSpPr>
        <p:spPr>
          <a:xfrm>
            <a:off x="5486400" y="2084832"/>
            <a:ext cx="1097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</a:t>
            </a:r>
            <a:endParaRPr lang="en-US" sz="1600" dirty="0"/>
          </a:p>
        </p:txBody>
      </p:sp>
      <p:sp>
        <p:nvSpPr>
          <p:cNvPr id="27" name="un-d1"/>
          <p:cNvSpPr txBox="1"/>
          <p:nvPr/>
        </p:nvSpPr>
        <p:spPr>
          <a:xfrm>
            <a:off x="6583680" y="2084832"/>
            <a:ext cx="1920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ukuran font akar</a:t>
            </a:r>
            <a:endParaRPr lang="en-US" sz="1400" dirty="0"/>
          </a:p>
        </p:txBody>
      </p:sp>
      <p:sp>
        <p:nvSpPr>
          <p:cNvPr id="28" name="un-card2"/>
          <p:cNvSpPr/>
          <p:nvPr/>
        </p:nvSpPr>
        <p:spPr>
          <a:xfrm>
            <a:off x="5303520" y="2889504"/>
            <a:ext cx="3291840" cy="713232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un-n2"/>
          <p:cNvSpPr txBox="1"/>
          <p:nvPr/>
        </p:nvSpPr>
        <p:spPr>
          <a:xfrm>
            <a:off x="5486400" y="2889504"/>
            <a:ext cx="1097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endParaRPr lang="en-US" sz="1600" dirty="0"/>
          </a:p>
        </p:txBody>
      </p:sp>
      <p:sp>
        <p:nvSpPr>
          <p:cNvPr id="30" name="un-d2"/>
          <p:cNvSpPr txBox="1"/>
          <p:nvPr/>
        </p:nvSpPr>
        <p:spPr>
          <a:xfrm>
            <a:off x="6583680" y="2889504"/>
            <a:ext cx="1920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relatif terhadap induk</a:t>
            </a:r>
            <a:endParaRPr lang="en-US" sz="1400" dirty="0"/>
          </a:p>
        </p:txBody>
      </p:sp>
      <p:sp>
        <p:nvSpPr>
          <p:cNvPr id="31" name="un-card3"/>
          <p:cNvSpPr/>
          <p:nvPr/>
        </p:nvSpPr>
        <p:spPr>
          <a:xfrm>
            <a:off x="5303520" y="3694176"/>
            <a:ext cx="3291840" cy="713232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2" name="un-n3"/>
          <p:cNvSpPr txBox="1"/>
          <p:nvPr/>
        </p:nvSpPr>
        <p:spPr>
          <a:xfrm>
            <a:off x="5486400" y="3694176"/>
            <a:ext cx="1097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vw / vh</a:t>
            </a:r>
            <a:endParaRPr lang="en-US" sz="1600" dirty="0"/>
          </a:p>
        </p:txBody>
      </p:sp>
      <p:sp>
        <p:nvSpPr>
          <p:cNvPr id="33" name="un-d3"/>
          <p:cNvSpPr txBox="1"/>
          <p:nvPr/>
        </p:nvSpPr>
        <p:spPr>
          <a:xfrm>
            <a:off x="6583680" y="3694176"/>
            <a:ext cx="1920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lebar / tinggi layar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Flexbox: Satu Dimensi</a:t>
            </a:r>
            <a:endParaRPr lang="en-US" sz="3400" dirty="0"/>
          </a:p>
        </p:txBody>
      </p:sp>
      <p:sp>
        <p:nvSpPr>
          <p:cNvPr id="4" name="flex-demo"/>
          <p:cNvSpPr/>
          <p:nvPr/>
        </p:nvSpPr>
        <p:spPr>
          <a:xfrm>
            <a:off x="548640" y="1280160"/>
            <a:ext cx="420624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flex-box0"/>
          <p:cNvSpPr/>
          <p:nvPr/>
        </p:nvSpPr>
        <p:spPr>
          <a:xfrm>
            <a:off x="777240" y="1691640"/>
            <a:ext cx="1188720" cy="9144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flex-n0"/>
          <p:cNvSpPr txBox="1"/>
          <p:nvPr/>
        </p:nvSpPr>
        <p:spPr>
          <a:xfrm>
            <a:off x="777240" y="169164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1</a:t>
            </a:r>
            <a:endParaRPr lang="en-US" sz="2400" dirty="0"/>
          </a:p>
        </p:txBody>
      </p:sp>
      <p:sp>
        <p:nvSpPr>
          <p:cNvPr id="7" name="flex-box1"/>
          <p:cNvSpPr/>
          <p:nvPr/>
        </p:nvSpPr>
        <p:spPr>
          <a:xfrm>
            <a:off x="2148840" y="1691640"/>
            <a:ext cx="1188720" cy="914400"/>
          </a:xfrm>
          <a:prstGeom prst="roundRect">
            <a:avLst>
              <a:gd name="adj" fmla="val 8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flex-n1"/>
          <p:cNvSpPr txBox="1"/>
          <p:nvPr/>
        </p:nvSpPr>
        <p:spPr>
          <a:xfrm>
            <a:off x="2148840" y="169164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2</a:t>
            </a:r>
            <a:endParaRPr lang="en-US" sz="2400" dirty="0"/>
          </a:p>
        </p:txBody>
      </p:sp>
      <p:sp>
        <p:nvSpPr>
          <p:cNvPr id="9" name="flex-box2"/>
          <p:cNvSpPr/>
          <p:nvPr/>
        </p:nvSpPr>
        <p:spPr>
          <a:xfrm>
            <a:off x="3520440" y="1691640"/>
            <a:ext cx="1188720" cy="914400"/>
          </a:xfrm>
          <a:prstGeom prst="roundRect">
            <a:avLst>
              <a:gd name="adj" fmla="val 8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flex-n2"/>
          <p:cNvSpPr txBox="1"/>
          <p:nvPr/>
        </p:nvSpPr>
        <p:spPr>
          <a:xfrm>
            <a:off x="3520440" y="169164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3</a:t>
            </a:r>
            <a:endParaRPr lang="en-US" sz="2400" dirty="0"/>
          </a:p>
        </p:txBody>
      </p:sp>
      <p:sp>
        <p:nvSpPr>
          <p:cNvPr id="11" name="flex-axis"/>
          <p:cNvSpPr txBox="1"/>
          <p:nvPr/>
        </p:nvSpPr>
        <p:spPr>
          <a:xfrm>
            <a:off x="548640" y="31089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Sumbu utama →</a:t>
            </a:r>
            <a:endParaRPr lang="en-US" sz="1400" dirty="0"/>
          </a:p>
        </p:txBody>
      </p:sp>
      <p:sp>
        <p:nvSpPr>
          <p:cNvPr id="12" name="flex-code"/>
          <p:cNvSpPr/>
          <p:nvPr/>
        </p:nvSpPr>
        <p:spPr>
          <a:xfrm>
            <a:off x="548640" y="3520440"/>
            <a:ext cx="420624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flex-code-t"/>
          <p:cNvSpPr txBox="1"/>
          <p:nvPr/>
        </p:nvSpPr>
        <p:spPr>
          <a:xfrm>
            <a:off x="777240" y="361188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nav {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display: flex; gap: 1rem;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14" name="fp-card0"/>
          <p:cNvSpPr/>
          <p:nvPr/>
        </p:nvSpPr>
        <p:spPr>
          <a:xfrm>
            <a:off x="5029200" y="1280160"/>
            <a:ext cx="3566160" cy="566928"/>
          </a:xfrm>
          <a:prstGeom prst="roundRect">
            <a:avLst>
              <a:gd name="adj" fmla="val 193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fp-n0"/>
          <p:cNvSpPr txBox="1"/>
          <p:nvPr/>
        </p:nvSpPr>
        <p:spPr>
          <a:xfrm>
            <a:off x="5212080" y="128016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flex-direction</a:t>
            </a:r>
            <a:endParaRPr lang="en-US" sz="1400" dirty="0"/>
          </a:p>
        </p:txBody>
      </p:sp>
      <p:sp>
        <p:nvSpPr>
          <p:cNvPr id="16" name="fp-d0"/>
          <p:cNvSpPr txBox="1"/>
          <p:nvPr/>
        </p:nvSpPr>
        <p:spPr>
          <a:xfrm>
            <a:off x="7040880" y="128016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row atau column</a:t>
            </a:r>
            <a:endParaRPr lang="en-US" sz="1400" dirty="0"/>
          </a:p>
        </p:txBody>
      </p:sp>
      <p:sp>
        <p:nvSpPr>
          <p:cNvPr id="17" name="fp-card1"/>
          <p:cNvSpPr/>
          <p:nvPr/>
        </p:nvSpPr>
        <p:spPr>
          <a:xfrm>
            <a:off x="5029200" y="1938528"/>
            <a:ext cx="3566160" cy="566928"/>
          </a:xfrm>
          <a:prstGeom prst="roundRect">
            <a:avLst>
              <a:gd name="adj" fmla="val 193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fp-n1"/>
          <p:cNvSpPr txBox="1"/>
          <p:nvPr/>
        </p:nvSpPr>
        <p:spPr>
          <a:xfrm>
            <a:off x="5212080" y="193852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justify-content</a:t>
            </a:r>
            <a:endParaRPr lang="en-US" sz="1400" dirty="0"/>
          </a:p>
        </p:txBody>
      </p:sp>
      <p:sp>
        <p:nvSpPr>
          <p:cNvPr id="19" name="fp-d1"/>
          <p:cNvSpPr txBox="1"/>
          <p:nvPr/>
        </p:nvSpPr>
        <p:spPr>
          <a:xfrm>
            <a:off x="7040880" y="1938528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sumbu utama</a:t>
            </a:r>
            <a:endParaRPr lang="en-US" sz="1400" dirty="0"/>
          </a:p>
        </p:txBody>
      </p:sp>
      <p:sp>
        <p:nvSpPr>
          <p:cNvPr id="20" name="fp-card2"/>
          <p:cNvSpPr/>
          <p:nvPr/>
        </p:nvSpPr>
        <p:spPr>
          <a:xfrm>
            <a:off x="5029200" y="2596896"/>
            <a:ext cx="3566160" cy="566928"/>
          </a:xfrm>
          <a:prstGeom prst="roundRect">
            <a:avLst>
              <a:gd name="adj" fmla="val 193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fp-n2"/>
          <p:cNvSpPr txBox="1"/>
          <p:nvPr/>
        </p:nvSpPr>
        <p:spPr>
          <a:xfrm>
            <a:off x="5212080" y="2596896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align-items</a:t>
            </a:r>
            <a:endParaRPr lang="en-US" sz="1400" dirty="0"/>
          </a:p>
        </p:txBody>
      </p:sp>
      <p:sp>
        <p:nvSpPr>
          <p:cNvPr id="22" name="fp-d2"/>
          <p:cNvSpPr txBox="1"/>
          <p:nvPr/>
        </p:nvSpPr>
        <p:spPr>
          <a:xfrm>
            <a:off x="7040880" y="2596896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sumbu silang</a:t>
            </a:r>
            <a:endParaRPr lang="en-US" sz="1400" dirty="0"/>
          </a:p>
        </p:txBody>
      </p:sp>
      <p:sp>
        <p:nvSpPr>
          <p:cNvPr id="23" name="fp-card3"/>
          <p:cNvSpPr/>
          <p:nvPr/>
        </p:nvSpPr>
        <p:spPr>
          <a:xfrm>
            <a:off x="5029200" y="3255264"/>
            <a:ext cx="3566160" cy="566928"/>
          </a:xfrm>
          <a:prstGeom prst="roundRect">
            <a:avLst>
              <a:gd name="adj" fmla="val 193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fp-n3"/>
          <p:cNvSpPr txBox="1"/>
          <p:nvPr/>
        </p:nvSpPr>
        <p:spPr>
          <a:xfrm>
            <a:off x="5212080" y="3255264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gap</a:t>
            </a:r>
            <a:endParaRPr lang="en-US" sz="1400" dirty="0"/>
          </a:p>
        </p:txBody>
      </p:sp>
      <p:sp>
        <p:nvSpPr>
          <p:cNvPr id="25" name="fp-d3"/>
          <p:cNvSpPr txBox="1"/>
          <p:nvPr/>
        </p:nvSpPr>
        <p:spPr>
          <a:xfrm>
            <a:off x="7040880" y="3255264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jarak antaranak</a:t>
            </a:r>
            <a:endParaRPr lang="en-US" sz="1400" dirty="0"/>
          </a:p>
        </p:txBody>
      </p:sp>
      <p:sp>
        <p:nvSpPr>
          <p:cNvPr id="26" name="fp-card4"/>
          <p:cNvSpPr/>
          <p:nvPr/>
        </p:nvSpPr>
        <p:spPr>
          <a:xfrm>
            <a:off x="5029200" y="3913632"/>
            <a:ext cx="3566160" cy="566928"/>
          </a:xfrm>
          <a:prstGeom prst="roundRect">
            <a:avLst>
              <a:gd name="adj" fmla="val 193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fp-n4"/>
          <p:cNvSpPr txBox="1"/>
          <p:nvPr/>
        </p:nvSpPr>
        <p:spPr>
          <a:xfrm>
            <a:off x="5212080" y="391363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flex-wrap</a:t>
            </a:r>
            <a:endParaRPr lang="en-US" sz="1400" dirty="0"/>
          </a:p>
        </p:txBody>
      </p:sp>
      <p:sp>
        <p:nvSpPr>
          <p:cNvPr id="28" name="fp-d4"/>
          <p:cNvSpPr txBox="1"/>
          <p:nvPr/>
        </p:nvSpPr>
        <p:spPr>
          <a:xfrm>
            <a:off x="7040880" y="3913632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boleh turun baris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justify-content</a:t>
            </a:r>
            <a:endParaRPr lang="en-US" sz="3400" dirty="0"/>
          </a:p>
        </p:txBody>
      </p:sp>
      <p:sp>
        <p:nvSpPr>
          <p:cNvPr id="4" name="jc-l0"/>
          <p:cNvSpPr txBox="1"/>
          <p:nvPr/>
        </p:nvSpPr>
        <p:spPr>
          <a:xfrm>
            <a:off x="548640" y="12801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flex-start</a:t>
            </a:r>
            <a:endParaRPr lang="en-US" sz="1500" dirty="0"/>
          </a:p>
        </p:txBody>
      </p:sp>
      <p:sp>
        <p:nvSpPr>
          <p:cNvPr id="5" name="jc-row0"/>
          <p:cNvSpPr/>
          <p:nvPr/>
        </p:nvSpPr>
        <p:spPr>
          <a:xfrm>
            <a:off x="2743200" y="1280160"/>
            <a:ext cx="5852160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jc-box0-0"/>
          <p:cNvSpPr/>
          <p:nvPr/>
        </p:nvSpPr>
        <p:spPr>
          <a:xfrm>
            <a:off x="2834640" y="1371600"/>
            <a:ext cx="640080" cy="4572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jc-box0-1"/>
          <p:cNvSpPr/>
          <p:nvPr/>
        </p:nvSpPr>
        <p:spPr>
          <a:xfrm>
            <a:off x="3474720" y="1371600"/>
            <a:ext cx="640080" cy="457200"/>
          </a:xfrm>
          <a:prstGeom prst="roundRect">
            <a:avLst>
              <a:gd name="adj" fmla="val 12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jc-box0-2"/>
          <p:cNvSpPr/>
          <p:nvPr/>
        </p:nvSpPr>
        <p:spPr>
          <a:xfrm>
            <a:off x="4114800" y="1371600"/>
            <a:ext cx="640080" cy="457200"/>
          </a:xfrm>
          <a:prstGeom prst="roundRect">
            <a:avLst>
              <a:gd name="adj" fmla="val 12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jc-l1"/>
          <p:cNvSpPr txBox="1"/>
          <p:nvPr/>
        </p:nvSpPr>
        <p:spPr>
          <a:xfrm>
            <a:off x="548640" y="21031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center</a:t>
            </a:r>
            <a:endParaRPr lang="en-US" sz="1500" dirty="0"/>
          </a:p>
        </p:txBody>
      </p:sp>
      <p:sp>
        <p:nvSpPr>
          <p:cNvPr id="10" name="jc-row1"/>
          <p:cNvSpPr/>
          <p:nvPr/>
        </p:nvSpPr>
        <p:spPr>
          <a:xfrm>
            <a:off x="2743200" y="2103120"/>
            <a:ext cx="5852160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jc-box1-0"/>
          <p:cNvSpPr/>
          <p:nvPr/>
        </p:nvSpPr>
        <p:spPr>
          <a:xfrm>
            <a:off x="4434840" y="2194560"/>
            <a:ext cx="640080" cy="4572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jc-box1-1"/>
          <p:cNvSpPr/>
          <p:nvPr/>
        </p:nvSpPr>
        <p:spPr>
          <a:xfrm>
            <a:off x="5074920" y="2194560"/>
            <a:ext cx="640080" cy="457200"/>
          </a:xfrm>
          <a:prstGeom prst="roundRect">
            <a:avLst>
              <a:gd name="adj" fmla="val 12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jc-box1-2"/>
          <p:cNvSpPr/>
          <p:nvPr/>
        </p:nvSpPr>
        <p:spPr>
          <a:xfrm>
            <a:off x="5715000" y="2194560"/>
            <a:ext cx="640080" cy="457200"/>
          </a:xfrm>
          <a:prstGeom prst="roundRect">
            <a:avLst>
              <a:gd name="adj" fmla="val 12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jc-l2"/>
          <p:cNvSpPr txBox="1"/>
          <p:nvPr/>
        </p:nvSpPr>
        <p:spPr>
          <a:xfrm>
            <a:off x="548640" y="29260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flex-end</a:t>
            </a:r>
            <a:endParaRPr lang="en-US" sz="1500" dirty="0"/>
          </a:p>
        </p:txBody>
      </p:sp>
      <p:sp>
        <p:nvSpPr>
          <p:cNvPr id="15" name="jc-row2"/>
          <p:cNvSpPr/>
          <p:nvPr/>
        </p:nvSpPr>
        <p:spPr>
          <a:xfrm>
            <a:off x="2743200" y="2926080"/>
            <a:ext cx="5852160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jc-box2-0"/>
          <p:cNvSpPr/>
          <p:nvPr/>
        </p:nvSpPr>
        <p:spPr>
          <a:xfrm>
            <a:off x="6035040" y="3017520"/>
            <a:ext cx="640080" cy="4572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jc-box2-1"/>
          <p:cNvSpPr/>
          <p:nvPr/>
        </p:nvSpPr>
        <p:spPr>
          <a:xfrm>
            <a:off x="6675120" y="3017520"/>
            <a:ext cx="640080" cy="457200"/>
          </a:xfrm>
          <a:prstGeom prst="roundRect">
            <a:avLst>
              <a:gd name="adj" fmla="val 12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8" name="jc-box2-2"/>
          <p:cNvSpPr/>
          <p:nvPr/>
        </p:nvSpPr>
        <p:spPr>
          <a:xfrm>
            <a:off x="7315200" y="3017520"/>
            <a:ext cx="640080" cy="457200"/>
          </a:xfrm>
          <a:prstGeom prst="roundRect">
            <a:avLst>
              <a:gd name="adj" fmla="val 12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9" name="jc-l3"/>
          <p:cNvSpPr txBox="1"/>
          <p:nvPr/>
        </p:nvSpPr>
        <p:spPr>
          <a:xfrm>
            <a:off x="548640" y="37490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space-between</a:t>
            </a:r>
            <a:endParaRPr lang="en-US" sz="1500" dirty="0"/>
          </a:p>
        </p:txBody>
      </p:sp>
      <p:sp>
        <p:nvSpPr>
          <p:cNvPr id="20" name="jc-row3"/>
          <p:cNvSpPr/>
          <p:nvPr/>
        </p:nvSpPr>
        <p:spPr>
          <a:xfrm>
            <a:off x="2743200" y="3749040"/>
            <a:ext cx="5852160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jc-box3-0"/>
          <p:cNvSpPr/>
          <p:nvPr/>
        </p:nvSpPr>
        <p:spPr>
          <a:xfrm>
            <a:off x="2834640" y="3840480"/>
            <a:ext cx="640080" cy="4572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jc-box3-1"/>
          <p:cNvSpPr/>
          <p:nvPr/>
        </p:nvSpPr>
        <p:spPr>
          <a:xfrm>
            <a:off x="5349240" y="3840480"/>
            <a:ext cx="640080" cy="457200"/>
          </a:xfrm>
          <a:prstGeom prst="roundRect">
            <a:avLst>
              <a:gd name="adj" fmla="val 12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3" name="jc-box3-2"/>
          <p:cNvSpPr/>
          <p:nvPr/>
        </p:nvSpPr>
        <p:spPr>
          <a:xfrm>
            <a:off x="7863840" y="3840480"/>
            <a:ext cx="640080" cy="457200"/>
          </a:xfrm>
          <a:prstGeom prst="roundRect">
            <a:avLst>
              <a:gd name="adj" fmla="val 12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CSS Grid: Dua Dimensi</a:t>
            </a:r>
            <a:endParaRPr lang="en-US" sz="3400" dirty="0"/>
          </a:p>
        </p:txBody>
      </p:sp>
      <p:sp>
        <p:nvSpPr>
          <p:cNvPr id="4" name="grid-demo"/>
          <p:cNvSpPr/>
          <p:nvPr/>
        </p:nvSpPr>
        <p:spPr>
          <a:xfrm>
            <a:off x="548640" y="1280160"/>
            <a:ext cx="4206240" cy="2834640"/>
          </a:xfrm>
          <a:prstGeom prst="roundRect">
            <a:avLst>
              <a:gd name="adj" fmla="val 38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grid-cell0"/>
          <p:cNvSpPr/>
          <p:nvPr/>
        </p:nvSpPr>
        <p:spPr>
          <a:xfrm>
            <a:off x="731520" y="1463040"/>
            <a:ext cx="1188720" cy="109728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grid-n0"/>
          <p:cNvSpPr txBox="1"/>
          <p:nvPr/>
        </p:nvSpPr>
        <p:spPr>
          <a:xfrm>
            <a:off x="731520" y="1463040"/>
            <a:ext cx="1188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</a:t>
            </a:r>
            <a:endParaRPr lang="en-US" sz="2200" dirty="0"/>
          </a:p>
        </p:txBody>
      </p:sp>
      <p:sp>
        <p:nvSpPr>
          <p:cNvPr id="7" name="grid-cell1"/>
          <p:cNvSpPr/>
          <p:nvPr/>
        </p:nvSpPr>
        <p:spPr>
          <a:xfrm>
            <a:off x="2011680" y="1463040"/>
            <a:ext cx="1188720" cy="1097280"/>
          </a:xfrm>
          <a:prstGeom prst="roundRect">
            <a:avLst>
              <a:gd name="adj" fmla="val 666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grid-n1"/>
          <p:cNvSpPr txBox="1"/>
          <p:nvPr/>
        </p:nvSpPr>
        <p:spPr>
          <a:xfrm>
            <a:off x="2011680" y="1463040"/>
            <a:ext cx="1188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2</a:t>
            </a:r>
            <a:endParaRPr lang="en-US" sz="2200" dirty="0"/>
          </a:p>
        </p:txBody>
      </p:sp>
      <p:sp>
        <p:nvSpPr>
          <p:cNvPr id="9" name="grid-cell2"/>
          <p:cNvSpPr/>
          <p:nvPr/>
        </p:nvSpPr>
        <p:spPr>
          <a:xfrm>
            <a:off x="3291840" y="1463040"/>
            <a:ext cx="1188720" cy="1097280"/>
          </a:xfrm>
          <a:prstGeom prst="roundRect">
            <a:avLst>
              <a:gd name="adj" fmla="val 666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grid-n2"/>
          <p:cNvSpPr txBox="1"/>
          <p:nvPr/>
        </p:nvSpPr>
        <p:spPr>
          <a:xfrm>
            <a:off x="3291840" y="1463040"/>
            <a:ext cx="1188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3</a:t>
            </a:r>
            <a:endParaRPr lang="en-US" sz="2200" dirty="0"/>
          </a:p>
        </p:txBody>
      </p:sp>
      <p:sp>
        <p:nvSpPr>
          <p:cNvPr id="11" name="grid-cell3"/>
          <p:cNvSpPr/>
          <p:nvPr/>
        </p:nvSpPr>
        <p:spPr>
          <a:xfrm>
            <a:off x="731520" y="2743200"/>
            <a:ext cx="1188720" cy="1097280"/>
          </a:xfrm>
          <a:prstGeom prst="roundRect">
            <a:avLst>
              <a:gd name="adj" fmla="val 6667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2" name="grid-n3"/>
          <p:cNvSpPr txBox="1"/>
          <p:nvPr/>
        </p:nvSpPr>
        <p:spPr>
          <a:xfrm>
            <a:off x="731520" y="2743200"/>
            <a:ext cx="1188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4</a:t>
            </a:r>
            <a:endParaRPr lang="en-US" sz="2200" dirty="0"/>
          </a:p>
        </p:txBody>
      </p:sp>
      <p:sp>
        <p:nvSpPr>
          <p:cNvPr id="13" name="grid-cell4"/>
          <p:cNvSpPr/>
          <p:nvPr/>
        </p:nvSpPr>
        <p:spPr>
          <a:xfrm>
            <a:off x="2011680" y="2743200"/>
            <a:ext cx="1188720" cy="1097280"/>
          </a:xfrm>
          <a:prstGeom prst="roundRect">
            <a:avLst>
              <a:gd name="adj" fmla="val 6667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grid-n4"/>
          <p:cNvSpPr txBox="1"/>
          <p:nvPr/>
        </p:nvSpPr>
        <p:spPr>
          <a:xfrm>
            <a:off x="2011680" y="2743200"/>
            <a:ext cx="1188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5</a:t>
            </a:r>
            <a:endParaRPr lang="en-US" sz="2200" dirty="0"/>
          </a:p>
        </p:txBody>
      </p:sp>
      <p:sp>
        <p:nvSpPr>
          <p:cNvPr id="15" name="grid-cell5"/>
          <p:cNvSpPr/>
          <p:nvPr/>
        </p:nvSpPr>
        <p:spPr>
          <a:xfrm>
            <a:off x="3291840" y="2743200"/>
            <a:ext cx="1188720" cy="1097280"/>
          </a:xfrm>
          <a:prstGeom prst="roundRect">
            <a:avLst>
              <a:gd name="adj" fmla="val 6667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grid-n5"/>
          <p:cNvSpPr txBox="1"/>
          <p:nvPr/>
        </p:nvSpPr>
        <p:spPr>
          <a:xfrm>
            <a:off x="3291840" y="2743200"/>
            <a:ext cx="1188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6</a:t>
            </a:r>
            <a:endParaRPr lang="en-US" sz="2200" dirty="0"/>
          </a:p>
        </p:txBody>
      </p:sp>
      <p:sp>
        <p:nvSpPr>
          <p:cNvPr id="17" name="grid-cap"/>
          <p:cNvSpPr txBox="1"/>
          <p:nvPr/>
        </p:nvSpPr>
        <p:spPr>
          <a:xfrm>
            <a:off x="548640" y="42062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Flexbox satu dimensi, Grid dua dimensi.</a:t>
            </a:r>
            <a:endParaRPr lang="en-US" sz="1400" dirty="0"/>
          </a:p>
        </p:txBody>
      </p:sp>
      <p:sp>
        <p:nvSpPr>
          <p:cNvPr id="18" name="grid-code"/>
          <p:cNvSpPr/>
          <p:nvPr/>
        </p:nvSpPr>
        <p:spPr>
          <a:xfrm>
            <a:off x="5029200" y="1280160"/>
            <a:ext cx="3566160" cy="3200400"/>
          </a:xfrm>
          <a:prstGeom prst="roundRect">
            <a:avLst>
              <a:gd name="adj" fmla="val 342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grid-code-t"/>
          <p:cNvSpPr txBox="1"/>
          <p:nvPr/>
        </p:nvSpPr>
        <p:spPr>
          <a:xfrm>
            <a:off x="5212080" y="1508760"/>
            <a:ext cx="3200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.grid-kartu {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display: grid;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grid-template-columns: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repeat(auto-fit,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minmax(220px, 1fr));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gap: 1rem;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20" name="grid-code-c"/>
          <p:cNvSpPr txBox="1"/>
          <p:nvPr/>
        </p:nvSpPr>
        <p:spPr>
          <a:xfrm>
            <a:off x="5212080" y="38404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1fr = satu bagian dari ruang tersisa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Desain Responsif</a:t>
            </a:r>
            <a:endParaRPr lang="en-US" sz="3400" dirty="0"/>
          </a:p>
        </p:txBody>
      </p:sp>
      <p:sp>
        <p:nvSpPr>
          <p:cNvPr id="4" name="dev0"/>
          <p:cNvSpPr/>
          <p:nvPr/>
        </p:nvSpPr>
        <p:spPr>
          <a:xfrm>
            <a:off x="548640" y="1280160"/>
            <a:ext cx="1188720" cy="182880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 w="25400">
            <a:solidFill>
              <a:schemeClr val="tx2"/>
            </a:solidFill>
            <a:prstDash val="solid"/>
          </a:ln>
        </p:spPr>
      </p:sp>
      <p:sp>
        <p:nvSpPr>
          <p:cNvPr id="5" name="dev-blk0-0"/>
          <p:cNvSpPr/>
          <p:nvPr/>
        </p:nvSpPr>
        <p:spPr>
          <a:xfrm>
            <a:off x="685800" y="1417320"/>
            <a:ext cx="914400" cy="45720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dev-blk0-1"/>
          <p:cNvSpPr/>
          <p:nvPr/>
        </p:nvSpPr>
        <p:spPr>
          <a:xfrm>
            <a:off x="685800" y="1965960"/>
            <a:ext cx="914400" cy="457200"/>
          </a:xfrm>
          <a:prstGeom prst="roundRect">
            <a:avLst>
              <a:gd name="adj" fmla="val 1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dev-blk0-2"/>
          <p:cNvSpPr/>
          <p:nvPr/>
        </p:nvSpPr>
        <p:spPr>
          <a:xfrm>
            <a:off x="685800" y="2514600"/>
            <a:ext cx="914400" cy="45720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dev-n0"/>
          <p:cNvSpPr txBox="1"/>
          <p:nvPr/>
        </p:nvSpPr>
        <p:spPr>
          <a:xfrm>
            <a:off x="548640" y="32004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Ponsel</a:t>
            </a:r>
            <a:endParaRPr lang="en-US" sz="1500" dirty="0"/>
          </a:p>
        </p:txBody>
      </p:sp>
      <p:sp>
        <p:nvSpPr>
          <p:cNvPr id="9" name="dev-b0"/>
          <p:cNvSpPr txBox="1"/>
          <p:nvPr/>
        </p:nvSpPr>
        <p:spPr>
          <a:xfrm>
            <a:off x="548640" y="34747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di bawah 640px</a:t>
            </a:r>
            <a:endParaRPr lang="en-US" sz="1400" dirty="0"/>
          </a:p>
        </p:txBody>
      </p:sp>
      <p:sp>
        <p:nvSpPr>
          <p:cNvPr id="10" name="dev1"/>
          <p:cNvSpPr/>
          <p:nvPr/>
        </p:nvSpPr>
        <p:spPr>
          <a:xfrm>
            <a:off x="2011680" y="1280160"/>
            <a:ext cx="2468880" cy="18288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25400">
            <a:solidFill>
              <a:schemeClr val="tx2"/>
            </a:solidFill>
            <a:prstDash val="solid"/>
          </a:ln>
        </p:spPr>
      </p:sp>
      <p:sp>
        <p:nvSpPr>
          <p:cNvPr id="11" name="dev-blk1-0"/>
          <p:cNvSpPr/>
          <p:nvPr/>
        </p:nvSpPr>
        <p:spPr>
          <a:xfrm>
            <a:off x="2148840" y="1417320"/>
            <a:ext cx="1051560" cy="731520"/>
          </a:xfrm>
          <a:prstGeom prst="roundRect">
            <a:avLst>
              <a:gd name="adj" fmla="val 625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dev-blk1-1"/>
          <p:cNvSpPr/>
          <p:nvPr/>
        </p:nvSpPr>
        <p:spPr>
          <a:xfrm>
            <a:off x="3291840" y="1417320"/>
            <a:ext cx="1051560" cy="731520"/>
          </a:xfrm>
          <a:prstGeom prst="roundRect">
            <a:avLst>
              <a:gd name="adj" fmla="val 625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dev-blk1-2"/>
          <p:cNvSpPr/>
          <p:nvPr/>
        </p:nvSpPr>
        <p:spPr>
          <a:xfrm>
            <a:off x="2148840" y="2240280"/>
            <a:ext cx="1051560" cy="731520"/>
          </a:xfrm>
          <a:prstGeom prst="roundRect">
            <a:avLst>
              <a:gd name="adj" fmla="val 625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dev-blk1-3"/>
          <p:cNvSpPr/>
          <p:nvPr/>
        </p:nvSpPr>
        <p:spPr>
          <a:xfrm>
            <a:off x="3291840" y="2240280"/>
            <a:ext cx="1051560" cy="731520"/>
          </a:xfrm>
          <a:prstGeom prst="roundRect">
            <a:avLst>
              <a:gd name="adj" fmla="val 625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dev-n1"/>
          <p:cNvSpPr txBox="1"/>
          <p:nvPr/>
        </p:nvSpPr>
        <p:spPr>
          <a:xfrm>
            <a:off x="2011680" y="32004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Tablet</a:t>
            </a:r>
            <a:endParaRPr lang="en-US" sz="1500" dirty="0"/>
          </a:p>
        </p:txBody>
      </p:sp>
      <p:sp>
        <p:nvSpPr>
          <p:cNvPr id="16" name="dev-b1"/>
          <p:cNvSpPr txBox="1"/>
          <p:nvPr/>
        </p:nvSpPr>
        <p:spPr>
          <a:xfrm>
            <a:off x="2011680" y="34747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640px ke atas</a:t>
            </a:r>
            <a:endParaRPr lang="en-US" sz="1400" dirty="0"/>
          </a:p>
        </p:txBody>
      </p:sp>
      <p:sp>
        <p:nvSpPr>
          <p:cNvPr id="17" name="dev2"/>
          <p:cNvSpPr/>
          <p:nvPr/>
        </p:nvSpPr>
        <p:spPr>
          <a:xfrm>
            <a:off x="4663440" y="1280160"/>
            <a:ext cx="3931920" cy="18288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25400">
            <a:solidFill>
              <a:schemeClr val="tx2"/>
            </a:solidFill>
            <a:prstDash val="solid"/>
          </a:ln>
        </p:spPr>
      </p:sp>
      <p:sp>
        <p:nvSpPr>
          <p:cNvPr id="18" name="dev-blk2-0"/>
          <p:cNvSpPr/>
          <p:nvPr/>
        </p:nvSpPr>
        <p:spPr>
          <a:xfrm>
            <a:off x="4800600" y="1417320"/>
            <a:ext cx="1158240" cy="1554480"/>
          </a:xfrm>
          <a:prstGeom prst="roundRect">
            <a:avLst>
              <a:gd name="adj" fmla="val 394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dev-blk2-1"/>
          <p:cNvSpPr/>
          <p:nvPr/>
        </p:nvSpPr>
        <p:spPr>
          <a:xfrm>
            <a:off x="6050280" y="1417320"/>
            <a:ext cx="1158240" cy="1554480"/>
          </a:xfrm>
          <a:prstGeom prst="roundRect">
            <a:avLst>
              <a:gd name="adj" fmla="val 394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0" name="dev-blk2-2"/>
          <p:cNvSpPr/>
          <p:nvPr/>
        </p:nvSpPr>
        <p:spPr>
          <a:xfrm>
            <a:off x="7299960" y="1417320"/>
            <a:ext cx="1158240" cy="1554480"/>
          </a:xfrm>
          <a:prstGeom prst="roundRect">
            <a:avLst>
              <a:gd name="adj" fmla="val 394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1" name="dev-n2"/>
          <p:cNvSpPr txBox="1"/>
          <p:nvPr/>
        </p:nvSpPr>
        <p:spPr>
          <a:xfrm>
            <a:off x="4663440" y="32004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Desktop</a:t>
            </a:r>
            <a:endParaRPr lang="en-US" sz="1500" dirty="0"/>
          </a:p>
        </p:txBody>
      </p:sp>
      <p:sp>
        <p:nvSpPr>
          <p:cNvPr id="22" name="dev-b2"/>
          <p:cNvSpPr txBox="1"/>
          <p:nvPr/>
        </p:nvSpPr>
        <p:spPr>
          <a:xfrm>
            <a:off x="4663440" y="34747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1024px ke atas</a:t>
            </a:r>
            <a:endParaRPr lang="en-US" sz="1400" dirty="0"/>
          </a:p>
        </p:txBody>
      </p:sp>
      <p:sp>
        <p:nvSpPr>
          <p:cNvPr id="23" name="mq-code"/>
          <p:cNvSpPr/>
          <p:nvPr/>
        </p:nvSpPr>
        <p:spPr>
          <a:xfrm>
            <a:off x="548640" y="3886200"/>
            <a:ext cx="8046720" cy="685800"/>
          </a:xfrm>
          <a:prstGeom prst="roundRect">
            <a:avLst>
              <a:gd name="adj" fmla="val 16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4" name="mq-code-t"/>
          <p:cNvSpPr txBox="1"/>
          <p:nvPr/>
        </p:nvSpPr>
        <p:spPr>
          <a:xfrm>
            <a:off x="777240" y="388620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@media (min-width: 640px) { .profil { flex-direction: row; } }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Pengantar Tailwind CSS</a:t>
            </a:r>
            <a:endParaRPr lang="en-US" sz="3400" dirty="0"/>
          </a:p>
        </p:txBody>
      </p:sp>
      <p:sp>
        <p:nvSpPr>
          <p:cNvPr id="4" name="tw-css"/>
          <p:cNvSpPr/>
          <p:nvPr/>
        </p:nvSpPr>
        <p:spPr>
          <a:xfrm>
            <a:off x="548640" y="1280160"/>
            <a:ext cx="3931920" cy="219456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w-css-l"/>
          <p:cNvSpPr txBox="1"/>
          <p:nvPr/>
        </p:nvSpPr>
        <p:spPr>
          <a:xfrm>
            <a:off x="777240" y="1417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CSS biasa</a:t>
            </a:r>
            <a:endParaRPr lang="en-US" sz="1700" dirty="0"/>
          </a:p>
        </p:txBody>
      </p:sp>
      <p:sp>
        <p:nvSpPr>
          <p:cNvPr id="6" name="tw-css-c"/>
          <p:cNvSpPr txBox="1"/>
          <p:nvPr/>
        </p:nvSpPr>
        <p:spPr>
          <a:xfrm>
            <a:off x="777240" y="1874520"/>
            <a:ext cx="34747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.tombol {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background: #0d9488;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color: white;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padding: .5rem 1rem;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7" name="tw-util"/>
          <p:cNvSpPr/>
          <p:nvPr/>
        </p:nvSpPr>
        <p:spPr>
          <a:xfrm>
            <a:off x="4663440" y="1280160"/>
            <a:ext cx="3931920" cy="219456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w-util-l"/>
          <p:cNvSpPr txBox="1"/>
          <p:nvPr/>
        </p:nvSpPr>
        <p:spPr>
          <a:xfrm>
            <a:off x="4892040" y="1417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bg2"/>
                </a:solidFill>
              </a:rPr>
              <a:t>Tailwind (utility)</a:t>
            </a:r>
            <a:endParaRPr lang="en-US" sz="1700" dirty="0"/>
          </a:p>
        </p:txBody>
      </p:sp>
      <p:sp>
        <p:nvSpPr>
          <p:cNvPr id="9" name="tw-util-c"/>
          <p:cNvSpPr txBox="1"/>
          <p:nvPr/>
        </p:nvSpPr>
        <p:spPr>
          <a:xfrm>
            <a:off x="4892040" y="1874520"/>
            <a:ext cx="34747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class="bg-teal-600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text-white px-4 py-2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hover:bg-teal-800"&gt;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Hubungi saya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&lt;/a&gt;</a:t>
            </a:r>
            <a:endParaRPr lang="en-US" sz="1400" dirty="0"/>
          </a:p>
        </p:txBody>
      </p:sp>
      <p:sp>
        <p:nvSpPr>
          <p:cNvPr id="10" name="tw-pill0"/>
          <p:cNvSpPr/>
          <p:nvPr/>
        </p:nvSpPr>
        <p:spPr>
          <a:xfrm>
            <a:off x="548640" y="3749040"/>
            <a:ext cx="2560320" cy="731520"/>
          </a:xfrm>
          <a:prstGeom prst="roundRect">
            <a:avLst>
              <a:gd name="adj" fmla="val 125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w-pill-t0"/>
          <p:cNvSpPr txBox="1"/>
          <p:nvPr/>
        </p:nvSpPr>
        <p:spPr>
          <a:xfrm>
            <a:off x="685800" y="37490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Utility-first</a:t>
            </a:r>
            <a:endParaRPr lang="en-US" sz="1500" dirty="0"/>
          </a:p>
        </p:txBody>
      </p:sp>
      <p:sp>
        <p:nvSpPr>
          <p:cNvPr id="12" name="tw-pill1"/>
          <p:cNvSpPr/>
          <p:nvPr/>
        </p:nvSpPr>
        <p:spPr>
          <a:xfrm>
            <a:off x="3291840" y="3749040"/>
            <a:ext cx="2560320" cy="731520"/>
          </a:xfrm>
          <a:prstGeom prst="roundRect">
            <a:avLst>
              <a:gd name="adj" fmla="val 125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w-pill-t1"/>
          <p:cNvSpPr txBox="1"/>
          <p:nvPr/>
        </p:nvSpPr>
        <p:spPr>
          <a:xfrm>
            <a:off x="3429000" y="37490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Prefiks md: dan hover:</a:t>
            </a:r>
            <a:endParaRPr lang="en-US" sz="1500" dirty="0"/>
          </a:p>
        </p:txBody>
      </p:sp>
      <p:sp>
        <p:nvSpPr>
          <p:cNvPr id="14" name="tw-pill2"/>
          <p:cNvSpPr/>
          <p:nvPr/>
        </p:nvSpPr>
        <p:spPr>
          <a:xfrm>
            <a:off x="6035040" y="3749040"/>
            <a:ext cx="2560320" cy="731520"/>
          </a:xfrm>
          <a:prstGeom prst="roundRect">
            <a:avLst>
              <a:gd name="adj" fmla="val 125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w-pill-t2"/>
          <p:cNvSpPr txBox="1"/>
          <p:nvPr/>
        </p:nvSpPr>
        <p:spPr>
          <a:xfrm>
            <a:off x="6172200" y="37490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Dipakai di Laravel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Praktikum Hari Ini</a:t>
            </a:r>
            <a:endParaRPr lang="en-US" sz="3400" dirty="0"/>
          </a:p>
        </p:txBody>
      </p:sp>
      <p:sp>
        <p:nvSpPr>
          <p:cNvPr id="4" name="prak0-circle"/>
          <p:cNvSpPr/>
          <p:nvPr/>
        </p:nvSpPr>
        <p:spPr>
          <a:xfrm>
            <a:off x="548640" y="1188720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prak0-num"/>
          <p:cNvSpPr txBox="1"/>
          <p:nvPr/>
        </p:nvSpPr>
        <p:spPr>
          <a:xfrm>
            <a:off x="548640" y="11887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prak-t0"/>
          <p:cNvSpPr txBox="1"/>
          <p:nvPr/>
        </p:nvSpPr>
        <p:spPr>
          <a:xfrm>
            <a:off x="1097280" y="118872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Siapkan proyek dan tautkan CSS</a:t>
            </a:r>
            <a:endParaRPr lang="en-US" sz="1500" dirty="0"/>
          </a:p>
        </p:txBody>
      </p:sp>
      <p:sp>
        <p:nvSpPr>
          <p:cNvPr id="7" name="prak1-circle"/>
          <p:cNvSpPr/>
          <p:nvPr/>
        </p:nvSpPr>
        <p:spPr>
          <a:xfrm>
            <a:off x="548640" y="1609344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prak1-num"/>
          <p:cNvSpPr txBox="1"/>
          <p:nvPr/>
        </p:nvSpPr>
        <p:spPr>
          <a:xfrm>
            <a:off x="548640" y="16093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prak-t1"/>
          <p:cNvSpPr txBox="1"/>
          <p:nvPr/>
        </p:nvSpPr>
        <p:spPr>
          <a:xfrm>
            <a:off x="1097280" y="1609344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Variabel, warna, tipografi</a:t>
            </a:r>
            <a:endParaRPr lang="en-US" sz="1500" dirty="0"/>
          </a:p>
        </p:txBody>
      </p:sp>
      <p:sp>
        <p:nvSpPr>
          <p:cNvPr id="10" name="prak2-circle"/>
          <p:cNvSpPr/>
          <p:nvPr/>
        </p:nvSpPr>
        <p:spPr>
          <a:xfrm>
            <a:off x="548640" y="2029968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prak2-num"/>
          <p:cNvSpPr txBox="1"/>
          <p:nvPr/>
        </p:nvSpPr>
        <p:spPr>
          <a:xfrm>
            <a:off x="548640" y="20299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2" name="prak-t2"/>
          <p:cNvSpPr txBox="1"/>
          <p:nvPr/>
        </p:nvSpPr>
        <p:spPr>
          <a:xfrm>
            <a:off x="1097280" y="2029968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Box model dan komponen</a:t>
            </a:r>
            <a:endParaRPr lang="en-US" sz="1500" dirty="0"/>
          </a:p>
        </p:txBody>
      </p:sp>
      <p:sp>
        <p:nvSpPr>
          <p:cNvPr id="13" name="prak3-circle"/>
          <p:cNvSpPr/>
          <p:nvPr/>
        </p:nvSpPr>
        <p:spPr>
          <a:xfrm>
            <a:off x="548640" y="2450592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prak3-num"/>
          <p:cNvSpPr txBox="1"/>
          <p:nvPr/>
        </p:nvSpPr>
        <p:spPr>
          <a:xfrm>
            <a:off x="548640" y="24505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5" name="prak-t3"/>
          <p:cNvSpPr txBox="1"/>
          <p:nvPr/>
        </p:nvSpPr>
        <p:spPr>
          <a:xfrm>
            <a:off x="1097280" y="245059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Navigasi dengan Flexbox</a:t>
            </a:r>
            <a:endParaRPr lang="en-US" sz="1500" dirty="0"/>
          </a:p>
        </p:txBody>
      </p:sp>
      <p:sp>
        <p:nvSpPr>
          <p:cNvPr id="16" name="prak4-circle"/>
          <p:cNvSpPr/>
          <p:nvPr/>
        </p:nvSpPr>
        <p:spPr>
          <a:xfrm>
            <a:off x="548640" y="2871216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prak4-num"/>
          <p:cNvSpPr txBox="1"/>
          <p:nvPr/>
        </p:nvSpPr>
        <p:spPr>
          <a:xfrm>
            <a:off x="548640" y="28712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18" name="prak-t4"/>
          <p:cNvSpPr txBox="1"/>
          <p:nvPr/>
        </p:nvSpPr>
        <p:spPr>
          <a:xfrm>
            <a:off x="1097280" y="2871216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Galeri kartu dengan Grid</a:t>
            </a:r>
            <a:endParaRPr lang="en-US" sz="1500" dirty="0"/>
          </a:p>
        </p:txBody>
      </p:sp>
      <p:sp>
        <p:nvSpPr>
          <p:cNvPr id="19" name="prak5-circle"/>
          <p:cNvSpPr/>
          <p:nvPr/>
        </p:nvSpPr>
        <p:spPr>
          <a:xfrm>
            <a:off x="548640" y="3291840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prak5-num"/>
          <p:cNvSpPr txBox="1"/>
          <p:nvPr/>
        </p:nvSpPr>
        <p:spPr>
          <a:xfrm>
            <a:off x="548640" y="32918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21" name="prak-t5"/>
          <p:cNvSpPr txBox="1"/>
          <p:nvPr/>
        </p:nvSpPr>
        <p:spPr>
          <a:xfrm>
            <a:off x="1097280" y="329184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Tabel, form, media query</a:t>
            </a:r>
            <a:endParaRPr lang="en-US" sz="1500" dirty="0"/>
          </a:p>
        </p:txBody>
      </p:sp>
      <p:sp>
        <p:nvSpPr>
          <p:cNvPr id="22" name="prak6-circle"/>
          <p:cNvSpPr/>
          <p:nvPr/>
        </p:nvSpPr>
        <p:spPr>
          <a:xfrm>
            <a:off x="548640" y="3712464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prak6-num"/>
          <p:cNvSpPr txBox="1"/>
          <p:nvPr/>
        </p:nvSpPr>
        <p:spPr>
          <a:xfrm>
            <a:off x="548640" y="37124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7</a:t>
            </a:r>
            <a:endParaRPr lang="en-US" sz="1600" dirty="0"/>
          </a:p>
        </p:txBody>
      </p:sp>
      <p:sp>
        <p:nvSpPr>
          <p:cNvPr id="24" name="prak-t6"/>
          <p:cNvSpPr txBox="1"/>
          <p:nvPr/>
        </p:nvSpPr>
        <p:spPr>
          <a:xfrm>
            <a:off x="1097280" y="3712464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Pengantar Tailwind CSS</a:t>
            </a:r>
            <a:endParaRPr lang="en-US" sz="1500" dirty="0"/>
          </a:p>
        </p:txBody>
      </p:sp>
      <p:sp>
        <p:nvSpPr>
          <p:cNvPr id="25" name="prak7-circle"/>
          <p:cNvSpPr/>
          <p:nvPr/>
        </p:nvSpPr>
        <p:spPr>
          <a:xfrm>
            <a:off x="548640" y="4133088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prak7-num"/>
          <p:cNvSpPr txBox="1"/>
          <p:nvPr/>
        </p:nvSpPr>
        <p:spPr>
          <a:xfrm>
            <a:off x="548640" y="41330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8</a:t>
            </a:r>
            <a:endParaRPr lang="en-US" sz="1600" dirty="0"/>
          </a:p>
        </p:txBody>
      </p:sp>
      <p:sp>
        <p:nvSpPr>
          <p:cNvPr id="27" name="prak-t7"/>
          <p:cNvSpPr txBox="1"/>
          <p:nvPr/>
        </p:nvSpPr>
        <p:spPr>
          <a:xfrm>
            <a:off x="1097280" y="4133088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Git dan GitHub</a:t>
            </a:r>
            <a:endParaRPr lang="en-US" sz="1500" dirty="0"/>
          </a:p>
        </p:txBody>
      </p:sp>
      <p:sp>
        <p:nvSpPr>
          <p:cNvPr id="28" name="stat-card"/>
          <p:cNvSpPr/>
          <p:nvPr/>
        </p:nvSpPr>
        <p:spPr>
          <a:xfrm>
            <a:off x="6035040" y="1280160"/>
            <a:ext cx="2560320" cy="3017520"/>
          </a:xfrm>
          <a:prstGeom prst="roundRect">
            <a:avLst>
              <a:gd name="adj" fmla="val 428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stat-n"/>
          <p:cNvSpPr txBox="1"/>
          <p:nvPr/>
        </p:nvSpPr>
        <p:spPr>
          <a:xfrm>
            <a:off x="6035040" y="155448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7200" dirty="0"/>
          </a:p>
        </p:txBody>
      </p:sp>
      <p:sp>
        <p:nvSpPr>
          <p:cNvPr id="30" name="stat-l"/>
          <p:cNvSpPr txBox="1"/>
          <p:nvPr/>
        </p:nvSpPr>
        <p:spPr>
          <a:xfrm>
            <a:off x="6035040" y="2743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praktikum</a:t>
            </a:r>
            <a:endParaRPr lang="en-US" sz="1800" dirty="0"/>
          </a:p>
        </p:txBody>
      </p:sp>
      <p:sp>
        <p:nvSpPr>
          <p:cNvPr id="31" name="stat-t"/>
          <p:cNvSpPr txBox="1"/>
          <p:nvPr/>
        </p:nvSpPr>
        <p:spPr>
          <a:xfrm>
            <a:off x="6035040" y="32918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± 150 menit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137160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Rangkuman</a:t>
            </a:r>
            <a:endParaRPr lang="en-US" sz="4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301752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Berikutnya, Pertemuan 4: JavaScript dasar dan DOM</a:t>
            </a:r>
            <a:endParaRPr lang="en-US" sz="1600" dirty="0"/>
          </a:p>
        </p:txBody>
      </p:sp>
      <p:sp>
        <p:nvSpPr>
          <p:cNvPr id="4" name="sum-card0"/>
          <p:cNvSpPr/>
          <p:nvPr/>
        </p:nvSpPr>
        <p:spPr>
          <a:xfrm>
            <a:off x="5577840" y="1097280"/>
            <a:ext cx="3108960" cy="640080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sum-t0"/>
          <p:cNvSpPr txBox="1"/>
          <p:nvPr/>
        </p:nvSpPr>
        <p:spPr>
          <a:xfrm>
            <a:off x="5760720" y="10972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CSS memisahkan tampilan dari struktur</a:t>
            </a:r>
            <a:endParaRPr lang="en-US" sz="1400" dirty="0"/>
          </a:p>
        </p:txBody>
      </p:sp>
      <p:sp>
        <p:nvSpPr>
          <p:cNvPr id="6" name="sum-card1"/>
          <p:cNvSpPr/>
          <p:nvPr/>
        </p:nvSpPr>
        <p:spPr>
          <a:xfrm>
            <a:off x="5577840" y="1874520"/>
            <a:ext cx="3108960" cy="640080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sum-t1"/>
          <p:cNvSpPr txBox="1"/>
          <p:nvPr/>
        </p:nvSpPr>
        <p:spPr>
          <a:xfrm>
            <a:off x="5760720" y="18745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Box model, Flexbox, dan Grid menata halaman</a:t>
            </a:r>
            <a:endParaRPr lang="en-US" sz="1400" dirty="0"/>
          </a:p>
        </p:txBody>
      </p:sp>
      <p:sp>
        <p:nvSpPr>
          <p:cNvPr id="8" name="sum-card2"/>
          <p:cNvSpPr/>
          <p:nvPr/>
        </p:nvSpPr>
        <p:spPr>
          <a:xfrm>
            <a:off x="5577840" y="2651760"/>
            <a:ext cx="3108960" cy="640080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sum-t2"/>
          <p:cNvSpPr txBox="1"/>
          <p:nvPr/>
        </p:nvSpPr>
        <p:spPr>
          <a:xfrm>
            <a:off x="5760720" y="26517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Mobile-first dengan media query min-width</a:t>
            </a:r>
            <a:endParaRPr lang="en-US" sz="1400" dirty="0"/>
          </a:p>
        </p:txBody>
      </p:sp>
      <p:sp>
        <p:nvSpPr>
          <p:cNvPr id="10" name="sum-card3"/>
          <p:cNvSpPr/>
          <p:nvPr/>
        </p:nvSpPr>
        <p:spPr>
          <a:xfrm>
            <a:off x="5577840" y="3429000"/>
            <a:ext cx="3108960" cy="640080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sum-t3"/>
          <p:cNvSpPr txBox="1"/>
          <p:nvPr/>
        </p:nvSpPr>
        <p:spPr>
          <a:xfrm>
            <a:off x="5760720" y="34290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Tailwind: kelas utilitas, konsep CSS tetap penting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emweb">
  <a:themeElements>
    <a:clrScheme name="Pemweb">
      <a:dk1>
        <a:srgbClr val="1F2933"/>
      </a:dk1>
      <a:lt1>
        <a:srgbClr val="FFFFFF"/>
      </a:lt1>
      <a:dk2>
        <a:srgbClr val="10243E"/>
      </a:dk2>
      <a:lt2>
        <a:srgbClr val="EAF3F6"/>
      </a:lt2>
      <a:accent1>
        <a:srgbClr val="0E7C86"/>
      </a:accent1>
      <a:accent2>
        <a:srgbClr val="F2A541"/>
      </a:accent2>
      <a:accent3>
        <a:srgbClr val="3F6FB5"/>
      </a:accent3>
      <a:accent4>
        <a:srgbClr val="D1495B"/>
      </a:accent4>
      <a:accent5>
        <a:srgbClr val="5E8C3A"/>
      </a:accent5>
      <a:accent6>
        <a:srgbClr val="7A5C99"/>
      </a:accent6>
      <a:hlink>
        <a:srgbClr val="0E7C86"/>
      </a:hlink>
      <a:folHlink>
        <a:srgbClr val="7A5C99"/>
      </a:folHlink>
    </a:clrScheme>
    <a:fontScheme name="Pemweb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Pemrograman Web - Pertemuan 3</dc:title>
  <dc:subject>PptxGenJS Presentation</dc:subject>
  <dc:creator>PptxGenJS</dc:creator>
  <cp:lastModifiedBy>PptxGenJS</cp:lastModifiedBy>
  <cp:revision>1</cp:revision>
  <dcterms:created xsi:type="dcterms:W3CDTF">2026-10-17T11:06:54Z</dcterms:created>
  <dcterms:modified xsi:type="dcterms:W3CDTF">2026-10-17T11:06:54Z</dcterms:modified>
</cp:coreProperties>
</file>