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552" r:id="rId2"/>
    <p:sldId id="580" r:id="rId3"/>
    <p:sldId id="311" r:id="rId4"/>
    <p:sldId id="366" r:id="rId5"/>
    <p:sldId id="367" r:id="rId6"/>
    <p:sldId id="369" r:id="rId7"/>
    <p:sldId id="370" r:id="rId8"/>
    <p:sldId id="371" r:id="rId9"/>
    <p:sldId id="372" r:id="rId10"/>
    <p:sldId id="373" r:id="rId11"/>
    <p:sldId id="374" r:id="rId12"/>
    <p:sldId id="375" r:id="rId13"/>
    <p:sldId id="376" r:id="rId14"/>
    <p:sldId id="550" r:id="rId15"/>
    <p:sldId id="562" r:id="rId16"/>
    <p:sldId id="257" r:id="rId17"/>
    <p:sldId id="258" r:id="rId18"/>
    <p:sldId id="259" r:id="rId19"/>
    <p:sldId id="260" r:id="rId20"/>
    <p:sldId id="261" r:id="rId21"/>
    <p:sldId id="555" r:id="rId22"/>
    <p:sldId id="548" r:id="rId23"/>
    <p:sldId id="554" r:id="rId24"/>
    <p:sldId id="553" r:id="rId25"/>
    <p:sldId id="266" r:id="rId26"/>
    <p:sldId id="267" r:id="rId27"/>
    <p:sldId id="316" r:id="rId28"/>
    <p:sldId id="270" r:id="rId29"/>
    <p:sldId id="315" r:id="rId30"/>
    <p:sldId id="551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1" autoAdjust="0"/>
    <p:restoredTop sz="94048"/>
  </p:normalViewPr>
  <p:slideViewPr>
    <p:cSldViewPr snapToGrid="0">
      <p:cViewPr varScale="1">
        <p:scale>
          <a:sx n="116" d="100"/>
          <a:sy n="116" d="100"/>
        </p:scale>
        <p:origin x="4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id-ID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Bobot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457C-8C4E-B465-5DDADC38948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457C-8C4E-B465-5DDADC38948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457C-8C4E-B465-5DDADC38948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457C-8C4E-B465-5DDADC389488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40%</a:t>
                    </a:r>
                    <a:endParaRPr lang="en-US" dirty="0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457C-8C4E-B465-5DDADC389488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10%</a:t>
                    </a:r>
                    <a:endParaRPr lang="en-US" dirty="0"/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457C-8C4E-B465-5DDADC389488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30%</a:t>
                    </a:r>
                  </a:p>
                </c:rich>
              </c:tx>
              <c:dLblPos val="ctr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457C-8C4E-B465-5DDADC389488}"/>
                </c:ext>
              </c:extLst>
            </c:dLbl>
            <c:spPr>
              <a:pattFill prst="pct75">
                <a:fgClr>
                  <a:prstClr val="black">
                    <a:lumMod val="75000"/>
                    <a:lumOff val="25000"/>
                  </a:prstClr>
                </a:fgClr>
                <a:bgClr>
                  <a:prstClr val="black">
                    <a:lumMod val="65000"/>
                    <a:lumOff val="35000"/>
                  </a:prst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id-ID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Tugas</c:v>
                </c:pt>
                <c:pt idx="1">
                  <c:v>Aktivitas Partisipatif</c:v>
                </c:pt>
                <c:pt idx="2">
                  <c:v>Hasil Project</c:v>
                </c:pt>
                <c:pt idx="3">
                  <c:v>UAS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0.4</c:v>
                </c:pt>
                <c:pt idx="1">
                  <c:v>0.1</c:v>
                </c:pt>
                <c:pt idx="2">
                  <c:v>0.3</c:v>
                </c:pt>
                <c:pt idx="3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457C-8C4E-B465-5DDADC38948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id-ID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id-ID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E16A78-9009-4D92-90CE-581B2BD72684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C9B011-8B12-43B1-AC48-7F0A1C8DF23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4066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Beberapa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aplikasi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/tools yang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akan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selama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kegiatan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 XAMPP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perangkat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yang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menggabungkan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tiga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aplikasi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kedalam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satu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paket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yaitu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Apache, MySQL, dan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PHPMyAdmin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2. Sublime Text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aplikasi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editor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kode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dan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teks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yang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dapat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berjalan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diberbagai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platform operating system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dengan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menggunakan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teknologi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Phyton API.</a:t>
            </a:r>
            <a:endParaRPr dirty="0"/>
          </a:p>
          <a:p>
            <a:pPr marL="1587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3. Git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adalah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version control system yang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digunakan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developer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untuk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mengembangkan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software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secara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b="0" i="0" u="none" strike="noStrike" cap="none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bersama-bersama</a:t>
            </a:r>
            <a:r>
              <a:rPr lang="en-US" sz="11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17" name="Google Shape;11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5365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B4AC9-A067-E9BF-7685-233D361979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6DCB0C-D6BA-AA62-C2D2-1753E5B16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CF927-93DB-6F66-0231-B2923A7E4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8C2B6-3B96-5103-308D-FD3DF94C50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44EA2-F7F2-563B-A7E5-C872E0434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88097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CD69-9322-9A52-901D-435D77F464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94A64-4438-3AED-0602-0013B6D6E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7120BE-1C8E-5E3D-6BA9-974F9484A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57F806-756C-8645-FCBB-2A606EC81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D600FD-67D7-34D3-0894-534C6C92C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563470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7FC38-BB47-CA5E-9105-B2DA3C515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0334FE-9D3B-172C-31E4-75DD387285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4B711-366E-15F1-5383-26F442112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BD5D2-6760-9720-2D9B-5E936389C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F1D9A7-00DF-F105-899E-D3D7CE567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95381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497CC-501C-919B-E87A-8684F3F2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0AEB4-DF5F-FF8B-DF9B-2D303220FE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FBD4B-6B9B-6398-1C9A-93FB668BA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420997-71E3-9101-0CF6-C4C1D0562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1EA74-FCF7-DA2F-5189-28A317E0B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685DB8-5962-35B6-3609-FAF00521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1597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80E27-9FA2-4778-BBC0-8A5400384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68554-87B1-EC4C-C8EF-55980F8DE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0398D1-EA07-C18A-77DF-26194514B8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FD4B76-7929-9B81-524F-F9D0A91BF1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66814A-1D15-D86D-3D4D-62B4F45961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99DC15-7A76-138B-8DA5-B06A3F714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F6DD9C-1D6F-3858-7C08-4253E0D7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E36607-2B08-7498-DD8B-1C2A7299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82524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ABB8B-331D-068B-F8E8-31E326265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9797A9-0161-912B-97D8-FAB4A71F6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3D261F-3001-F8AF-8FEF-FF4050B13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02B9D-50E0-0BFA-5B95-D6368628A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9424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9F87A3-FF1B-1EC5-D3A0-5E947C476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20165A-B055-88F9-6F7F-DEBE27027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AE5AEB-F8C1-4E91-99C2-0C7A3B11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71227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536F8-1C5B-1EC2-E089-766156A52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E7E759-1F57-0B5B-5A15-299447B361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FF6264-31E3-3F1A-2C6E-9AA817BAC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D076FB-49AD-3BFA-F365-F4E3044A7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9CD166-4D17-2102-0207-BDC5F144B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DE858C-5E0D-C82A-00DD-FCE21C6B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324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88965-35D1-1823-A2A4-E9011E395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9811E5-D1AA-3B99-0CEE-4F0B55B18A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07BAC5-27B7-4E22-D6C7-10FB3C9BEE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4835A6-8AC0-4E1B-EC4E-E5BB7231E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EEBE1F-6AA8-7193-644A-43B354A02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9C002B-3ECE-93E7-7DE6-D0A6FBBF6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342779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6CF44-FC41-14CD-1925-6FF3F657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1454AE-72A1-B368-08EE-EAF8D62F2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D269E-3794-E387-37F9-B2022815D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5D74E-488D-7FDF-358D-89E373C11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7B2003-AB41-0907-0478-BDB01A205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122241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38899C-CEAD-74CF-3C25-BE8A082BAB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6ACF0E-0FBE-8034-7258-E6EEE84C2E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B4D282-A8A4-1A4F-0FD2-30EC76B51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0B1DE-6C8D-60B6-8955-E04FCBA38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29364-0D41-A481-D611-A0C8D750E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512301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 rot="20845861">
            <a:off x="601686" y="1590367"/>
            <a:ext cx="4903028" cy="3677271"/>
          </a:xfrm>
          <a:custGeom>
            <a:avLst/>
            <a:gdLst>
              <a:gd name="connsiteX0" fmla="*/ 3134226 w 5433333"/>
              <a:gd name="connsiteY0" fmla="*/ 231 h 5433333"/>
              <a:gd name="connsiteX1" fmla="*/ 3859028 w 5433333"/>
              <a:gd name="connsiteY1" fmla="*/ 406376 h 5433333"/>
              <a:gd name="connsiteX2" fmla="*/ 5292710 w 5433333"/>
              <a:gd name="connsiteY2" fmla="*/ 2636451 h 5433333"/>
              <a:gd name="connsiteX3" fmla="*/ 5026958 w 5433333"/>
              <a:gd name="connsiteY3" fmla="*/ 3859028 h 5433333"/>
              <a:gd name="connsiteX4" fmla="*/ 2796883 w 5433333"/>
              <a:gd name="connsiteY4" fmla="*/ 5292710 h 5433333"/>
              <a:gd name="connsiteX5" fmla="*/ 1574307 w 5433333"/>
              <a:gd name="connsiteY5" fmla="*/ 5026958 h 5433333"/>
              <a:gd name="connsiteX6" fmla="*/ 140624 w 5433333"/>
              <a:gd name="connsiteY6" fmla="*/ 2796883 h 5433333"/>
              <a:gd name="connsiteX7" fmla="*/ 406376 w 5433333"/>
              <a:gd name="connsiteY7" fmla="*/ 1574307 h 5433333"/>
              <a:gd name="connsiteX8" fmla="*/ 2636451 w 5433333"/>
              <a:gd name="connsiteY8" fmla="*/ 140624 h 5433333"/>
              <a:gd name="connsiteX9" fmla="*/ 3134226 w 5433333"/>
              <a:gd name="connsiteY9" fmla="*/ 231 h 543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433333" h="5433333">
                <a:moveTo>
                  <a:pt x="3134226" y="231"/>
                </a:moveTo>
                <a:cubicBezTo>
                  <a:pt x="3418149" y="6704"/>
                  <a:pt x="3693890" y="149507"/>
                  <a:pt x="3859028" y="406376"/>
                </a:cubicBezTo>
                <a:lnTo>
                  <a:pt x="5292710" y="2636451"/>
                </a:lnTo>
                <a:cubicBezTo>
                  <a:pt x="5556930" y="3047442"/>
                  <a:pt x="5437949" y="3594808"/>
                  <a:pt x="5026958" y="3859028"/>
                </a:cubicBezTo>
                <a:lnTo>
                  <a:pt x="2796883" y="5292710"/>
                </a:lnTo>
                <a:cubicBezTo>
                  <a:pt x="2385893" y="5556930"/>
                  <a:pt x="1838526" y="5437949"/>
                  <a:pt x="1574307" y="5026958"/>
                </a:cubicBezTo>
                <a:lnTo>
                  <a:pt x="140624" y="2796883"/>
                </a:lnTo>
                <a:cubicBezTo>
                  <a:pt x="-123596" y="2385893"/>
                  <a:pt x="-4614" y="1838526"/>
                  <a:pt x="406376" y="1574307"/>
                </a:cubicBezTo>
                <a:lnTo>
                  <a:pt x="2636451" y="140624"/>
                </a:lnTo>
                <a:cubicBezTo>
                  <a:pt x="2790573" y="41542"/>
                  <a:pt x="2963872" y="-3653"/>
                  <a:pt x="3134226" y="231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4322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27932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1"/>
          </p:nvPr>
        </p:nvSpPr>
        <p:spPr>
          <a:xfrm>
            <a:off x="6934200" y="0"/>
            <a:ext cx="3962400" cy="279327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5977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 nodePh="1">
                                  <p:stCondLst>
                                    <p:cond delay="5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AEF91FE-CE08-4C64-9D1A-BF086DAC22E9}"/>
              </a:ext>
            </a:extLst>
          </p:cNvPr>
          <p:cNvGrpSpPr/>
          <p:nvPr userDrawn="1"/>
        </p:nvGrpSpPr>
        <p:grpSpPr>
          <a:xfrm>
            <a:off x="9891691" y="6522814"/>
            <a:ext cx="2300309" cy="335186"/>
            <a:chOff x="7418768" y="6522818"/>
            <a:chExt cx="1725232" cy="3351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6587F9-4489-4F31-A201-9E603A9EFA33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D842AC-AEF0-446E-9DFB-E136E63032D2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35002" y="116944"/>
            <a:ext cx="11092543" cy="1325563"/>
          </a:xfrm>
        </p:spPr>
        <p:txBody>
          <a:bodyPr/>
          <a:lstStyle>
            <a:lvl1pPr>
              <a:defRPr b="1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 L1/ L2 /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35002" y="1658983"/>
            <a:ext cx="11092541" cy="4859675"/>
          </a:xfrm>
        </p:spPr>
        <p:txBody>
          <a:bodyPr/>
          <a:lstStyle>
            <a:lvl1pPr marL="457178" indent="-457178">
              <a:buFont typeface="Wingdings" panose="05000000000000000000" pitchFamily="2" charset="2"/>
              <a:buChar char="q"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Teks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54547" y="116944"/>
            <a:ext cx="412943" cy="132556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480438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A32C0-493B-0450-D9A8-645202738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316EB5-1139-0F67-1F5F-85D0E85091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93D93-E2A7-E60B-89AF-1893D16DE5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DCFB6-CBE7-49B8-8E46-B0D0DEF4825A}" type="datetimeFigureOut">
              <a:rPr lang="en-ID" smtClean="0"/>
              <a:t>17/10/26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8A0702-1D16-5899-EE1D-9B05C6C5F5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FEE13A-5EEA-CAD2-3EAE-CBDDE53C48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FA33BC-7E5B-4E29-8157-D0D9485776C3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77311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7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4E4FF3-86B3-91FB-32C6-793A2C423C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ID" dirty="0" err="1"/>
              <a:t>Pemprograman</a:t>
            </a:r>
            <a:r>
              <a:rPr lang="en-ID" dirty="0"/>
              <a:t> Web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5150D6-A193-9C2B-3A27-32B41AAA0C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/>
          </a:bodyPr>
          <a:lstStyle/>
          <a:p>
            <a:pPr algn="r"/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596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0027" y="2221120"/>
            <a:ext cx="3122255" cy="5112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846132" y="2487018"/>
            <a:ext cx="4612305" cy="276997"/>
          </a:xfrm>
          <a:prstGeom prst="rect">
            <a:avLst/>
          </a:prstGeom>
        </p:spPr>
        <p:txBody>
          <a:bodyPr wrap="none" lIns="68493" tIns="34289" rIns="68493" bIns="34289">
            <a:spAutoFit/>
          </a:bodyPr>
          <a:lstStyle/>
          <a:p>
            <a:pPr defTabSz="684798"/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Staf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Pengajar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fungsional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Lektor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Kepala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Golongan</a:t>
            </a:r>
            <a:r>
              <a:rPr lang="en-US" sz="1350" b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4C</a:t>
            </a:r>
            <a:endParaRPr lang="en-US" sz="1350" b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817934" y="4165580"/>
            <a:ext cx="3505720" cy="484746"/>
          </a:xfrm>
          <a:prstGeom prst="rect">
            <a:avLst/>
          </a:prstGeom>
        </p:spPr>
        <p:txBody>
          <a:bodyPr wrap="none" lIns="68493" tIns="34289" rIns="68493" bIns="34289">
            <a:spAutoFit/>
          </a:bodyPr>
          <a:lstStyle/>
          <a:p>
            <a:pPr defTabSz="684798"/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Konsultan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Arsitektur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Pemerintahan </a:t>
            </a:r>
          </a:p>
          <a:p>
            <a:pPr defTabSz="684798"/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Berbasis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Elektronik (SPBE) 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Pemkot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Kab</a:t>
            </a:r>
            <a:endParaRPr lang="en-US" sz="1350" b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029962" y="1586760"/>
            <a:ext cx="295946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chemeClr val="tx1">
                    <a:lumMod val="85000"/>
                    <a:lumOff val="1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ARIFIN NOOR ASYIKIN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95854" y="4841990"/>
            <a:ext cx="3463786" cy="1061827"/>
          </a:xfrm>
          <a:prstGeom prst="rect">
            <a:avLst/>
          </a:prstGeom>
        </p:spPr>
        <p:txBody>
          <a:bodyPr wrap="none" lIns="68493" tIns="34289" rIns="68493" bIns="34289">
            <a:spAutoFit/>
          </a:bodyPr>
          <a:lstStyle/>
          <a:p>
            <a:pPr defTabSz="684798"/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Praktisi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keamanan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sistem</a:t>
            </a:r>
            <a:endParaRPr lang="en-US" sz="1350" b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defTabSz="684798"/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Programer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dan Administrator Jaringan</a:t>
            </a:r>
            <a:b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</a:t>
            </a:r>
            <a:r>
              <a:rPr lang="en-US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Intergrasi</a:t>
            </a:r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Service</a:t>
            </a:r>
          </a:p>
          <a:p>
            <a:pPr defTabSz="684798"/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- Aplikasi </a:t>
            </a:r>
            <a:r>
              <a:rPr lang="en-US" sz="105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Berbasis</a:t>
            </a:r>
            <a:r>
              <a:rPr lang="en-US" sz="105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Web dan Mobile</a:t>
            </a:r>
          </a:p>
          <a:p>
            <a:pPr defTabSz="684798"/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6142417" y="3005601"/>
            <a:ext cx="516891" cy="516891"/>
            <a:chOff x="6128032" y="3578012"/>
            <a:chExt cx="689188" cy="689188"/>
          </a:xfrm>
          <a:solidFill>
            <a:srgbClr val="1F608A"/>
          </a:solidFill>
        </p:grpSpPr>
        <p:sp>
          <p:nvSpPr>
            <p:cNvPr id="9" name="Oval 8"/>
            <p:cNvSpPr/>
            <p:nvPr/>
          </p:nvSpPr>
          <p:spPr>
            <a:xfrm>
              <a:off x="6128032" y="3578012"/>
              <a:ext cx="689188" cy="6891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6252053" y="3703776"/>
              <a:ext cx="376600" cy="43088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500" kern="0" dirty="0">
                  <a:solidFill>
                    <a:schemeClr val="bg1"/>
                  </a:solidFill>
                  <a:latin typeface="FontAwesome" pitchFamily="2" charset="0"/>
                </a:rPr>
                <a:t></a:t>
              </a:r>
              <a:endParaRPr lang="en-US" sz="900" kern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6120025" y="4171180"/>
            <a:ext cx="516891" cy="516891"/>
            <a:chOff x="6128032" y="4418572"/>
            <a:chExt cx="689188" cy="689188"/>
          </a:xfrm>
          <a:solidFill>
            <a:srgbClr val="2C83B9"/>
          </a:solidFill>
        </p:grpSpPr>
        <p:sp>
          <p:nvSpPr>
            <p:cNvPr id="10" name="Oval 9"/>
            <p:cNvSpPr/>
            <p:nvPr/>
          </p:nvSpPr>
          <p:spPr>
            <a:xfrm>
              <a:off x="6128032" y="4418572"/>
              <a:ext cx="689188" cy="6891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6281908" y="4563111"/>
              <a:ext cx="376600" cy="43088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500" kern="0" dirty="0">
                  <a:solidFill>
                    <a:schemeClr val="bg1"/>
                  </a:solidFill>
                  <a:latin typeface="FontAwesome" pitchFamily="2" charset="0"/>
                </a:rPr>
                <a:t></a:t>
              </a:r>
              <a:endParaRPr lang="en-US" sz="900" kern="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6120025" y="4801600"/>
            <a:ext cx="516891" cy="516891"/>
            <a:chOff x="6128032" y="5259132"/>
            <a:chExt cx="689188" cy="689188"/>
          </a:xfrm>
          <a:solidFill>
            <a:srgbClr val="4299D4"/>
          </a:solidFill>
        </p:grpSpPr>
        <p:sp>
          <p:nvSpPr>
            <p:cNvPr id="11" name="Oval 10"/>
            <p:cNvSpPr/>
            <p:nvPr/>
          </p:nvSpPr>
          <p:spPr>
            <a:xfrm>
              <a:off x="6128032" y="5259132"/>
              <a:ext cx="689188" cy="6891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6252053" y="5403671"/>
              <a:ext cx="376600" cy="43088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FontAwesome" pitchFamily="50" charset="0"/>
                </a:rPr>
                <a:t></a:t>
              </a:r>
              <a:endParaRPr lang="en-US" sz="1500" dirty="0">
                <a:solidFill>
                  <a:schemeClr val="bg1"/>
                </a:solidFill>
              </a:endParaRPr>
            </a:p>
          </p:txBody>
        </p:sp>
      </p:grpSp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8C0046A8-B25F-4A89-A323-40A1C9C076A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 l="2368" r="2368"/>
          <a:stretch>
            <a:fillRect/>
          </a:stretch>
        </p:blipFill>
        <p:spPr>
          <a:xfrm>
            <a:off x="2944387" y="1586759"/>
            <a:ext cx="2978944" cy="3657600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852AB9BC-CD57-42F3-970B-9C58786E2ABB}"/>
              </a:ext>
            </a:extLst>
          </p:cNvPr>
          <p:cNvGrpSpPr/>
          <p:nvPr/>
        </p:nvGrpSpPr>
        <p:grpSpPr>
          <a:xfrm>
            <a:off x="6133851" y="2332446"/>
            <a:ext cx="516891" cy="516891"/>
            <a:chOff x="6128032" y="4418572"/>
            <a:chExt cx="689188" cy="689188"/>
          </a:xfrm>
          <a:solidFill>
            <a:srgbClr val="2C83B9"/>
          </a:solidFill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63A782D-A08F-4198-8EBA-693FE7649CC0}"/>
                </a:ext>
              </a:extLst>
            </p:cNvPr>
            <p:cNvSpPr/>
            <p:nvPr/>
          </p:nvSpPr>
          <p:spPr>
            <a:xfrm>
              <a:off x="6128032" y="4418572"/>
              <a:ext cx="689188" cy="6891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5F5ADC8F-BBDB-48BA-806B-57450DB4F21A}"/>
                </a:ext>
              </a:extLst>
            </p:cNvPr>
            <p:cNvSpPr/>
            <p:nvPr/>
          </p:nvSpPr>
          <p:spPr>
            <a:xfrm>
              <a:off x="6281908" y="4563111"/>
              <a:ext cx="376600" cy="43088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en-US" sz="1500" kern="0" dirty="0">
                  <a:solidFill>
                    <a:schemeClr val="bg1"/>
                  </a:solidFill>
                  <a:latin typeface="FontAwesome" pitchFamily="2" charset="0"/>
                </a:rPr>
                <a:t></a:t>
              </a:r>
              <a:endParaRPr lang="en-US" sz="900" kern="0" dirty="0">
                <a:solidFill>
                  <a:schemeClr val="bg1"/>
                </a:solidFill>
              </a:endParaRPr>
            </a:p>
          </p:txBody>
        </p: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0792EAE2-C1F2-453D-A830-BFA2B2581AE1}"/>
              </a:ext>
            </a:extLst>
          </p:cNvPr>
          <p:cNvSpPr/>
          <p:nvPr/>
        </p:nvSpPr>
        <p:spPr>
          <a:xfrm>
            <a:off x="6846131" y="3037744"/>
            <a:ext cx="3584524" cy="484746"/>
          </a:xfrm>
          <a:prstGeom prst="rect">
            <a:avLst/>
          </a:prstGeom>
        </p:spPr>
        <p:txBody>
          <a:bodyPr wrap="none" lIns="68493" tIns="34289" rIns="68493" bIns="34289">
            <a:spAutoFit/>
          </a:bodyPr>
          <a:lstStyle/>
          <a:p>
            <a:pPr defTabSz="684798"/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Anggota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Dewan Smart City Banjarmasin</a:t>
            </a:r>
          </a:p>
          <a:p>
            <a:pPr defTabSz="684798"/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Tahun 2018 - 2026</a:t>
            </a: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7B49D0F-9EA5-42AE-97BA-CD677830899B}"/>
              </a:ext>
            </a:extLst>
          </p:cNvPr>
          <p:cNvGrpSpPr/>
          <p:nvPr/>
        </p:nvGrpSpPr>
        <p:grpSpPr>
          <a:xfrm>
            <a:off x="6128591" y="3616816"/>
            <a:ext cx="516891" cy="516891"/>
            <a:chOff x="6128032" y="5259132"/>
            <a:chExt cx="689188" cy="689188"/>
          </a:xfrm>
          <a:solidFill>
            <a:srgbClr val="4299D4"/>
          </a:solidFill>
        </p:grpSpPr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1049FA74-CE8E-4817-85CA-813C100F7190}"/>
                </a:ext>
              </a:extLst>
            </p:cNvPr>
            <p:cNvSpPr/>
            <p:nvPr/>
          </p:nvSpPr>
          <p:spPr>
            <a:xfrm>
              <a:off x="6128032" y="5259132"/>
              <a:ext cx="689188" cy="689188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 dirty="0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41D352B4-D64F-47B9-AF9E-89B1D051C94C}"/>
                </a:ext>
              </a:extLst>
            </p:cNvPr>
            <p:cNvSpPr/>
            <p:nvPr/>
          </p:nvSpPr>
          <p:spPr>
            <a:xfrm>
              <a:off x="6252053" y="5403671"/>
              <a:ext cx="376600" cy="430887"/>
            </a:xfrm>
            <a:prstGeom prst="rect">
              <a:avLst/>
            </a:prstGeom>
            <a:grpFill/>
          </p:spPr>
          <p:txBody>
            <a:bodyPr wrap="none">
              <a:spAutoFit/>
            </a:bodyPr>
            <a:lstStyle/>
            <a:p>
              <a:r>
                <a:rPr lang="en-US" sz="1500" dirty="0">
                  <a:solidFill>
                    <a:schemeClr val="bg1"/>
                  </a:solidFill>
                  <a:latin typeface="FontAwesome" pitchFamily="50" charset="0"/>
                </a:rPr>
                <a:t></a:t>
              </a:r>
              <a:endParaRPr lang="en-US" sz="1500" dirty="0">
                <a:solidFill>
                  <a:schemeClr val="bg1"/>
                </a:solidFill>
              </a:endParaRPr>
            </a:p>
          </p:txBody>
        </p:sp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2B835AB6-3351-48C2-A984-CA7EA88AF56E}"/>
              </a:ext>
            </a:extLst>
          </p:cNvPr>
          <p:cNvSpPr/>
          <p:nvPr/>
        </p:nvSpPr>
        <p:spPr>
          <a:xfrm>
            <a:off x="6791228" y="3566051"/>
            <a:ext cx="3695388" cy="484746"/>
          </a:xfrm>
          <a:prstGeom prst="rect">
            <a:avLst/>
          </a:prstGeom>
        </p:spPr>
        <p:txBody>
          <a:bodyPr wrap="none" lIns="68493" tIns="34289" rIns="68493" bIns="34289">
            <a:spAutoFit/>
          </a:bodyPr>
          <a:lstStyle/>
          <a:p>
            <a:pPr defTabSz="684798"/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Anggota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Tim </a:t>
            </a:r>
            <a:r>
              <a:rPr lang="en-US" sz="135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Pembuatan</a:t>
            </a:r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Roadmap </a:t>
            </a:r>
          </a:p>
          <a:p>
            <a:pPr defTabSz="684798"/>
            <a:r>
              <a:rPr lang="en-US" sz="13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Digitalisasi Pendidikan Kota Banjarmasin</a:t>
            </a:r>
          </a:p>
        </p:txBody>
      </p:sp>
    </p:spTree>
    <p:extLst>
      <p:ext uri="{BB962C8B-B14F-4D97-AF65-F5344CB8AC3E}">
        <p14:creationId xmlns:p14="http://schemas.microsoft.com/office/powerpoint/2010/main" val="3209058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0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500"/>
                            </p:stCondLst>
                            <p:childTnLst>
                              <p:par>
                                <p:cTn id="4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6" grpId="0"/>
      <p:bldP spid="16" grpId="0"/>
      <p:bldP spid="41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5611BFEE-12CA-452D-B93A-A7B6392C5C4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2" t="-46" r="-4772" b="43092"/>
          <a:stretch/>
        </p:blipFill>
        <p:spPr>
          <a:xfrm>
            <a:off x="2506944" y="1431856"/>
            <a:ext cx="7278701" cy="2763632"/>
          </a:xfrm>
        </p:spPr>
      </p:pic>
      <p:sp>
        <p:nvSpPr>
          <p:cNvPr id="11" name="Rectangle 10"/>
          <p:cNvSpPr/>
          <p:nvPr/>
        </p:nvSpPr>
        <p:spPr>
          <a:xfrm>
            <a:off x="3366488" y="3804309"/>
            <a:ext cx="5459026" cy="787294"/>
          </a:xfrm>
          <a:prstGeom prst="rect">
            <a:avLst/>
          </a:prstGeom>
          <a:solidFill>
            <a:srgbClr val="C28F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75" dirty="0"/>
          </a:p>
        </p:txBody>
      </p:sp>
      <p:sp>
        <p:nvSpPr>
          <p:cNvPr id="14" name="Rectangle: Rounded Corners 13"/>
          <p:cNvSpPr/>
          <p:nvPr/>
        </p:nvSpPr>
        <p:spPr>
          <a:xfrm>
            <a:off x="3549853" y="3948211"/>
            <a:ext cx="750616" cy="420800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33">
                <a:latin typeface="Roboto Black" pitchFamily="2" charset="0"/>
                <a:ea typeface="Roboto Black" pitchFamily="2" charset="0"/>
              </a:rPr>
              <a:t>2002</a:t>
            </a:r>
            <a:r>
              <a:rPr lang="en-US" sz="1075">
                <a:latin typeface="Roboto Black" pitchFamily="2" charset="0"/>
                <a:ea typeface="Roboto Black" pitchFamily="2" charset="0"/>
              </a:rPr>
              <a:t>-sekarang</a:t>
            </a:r>
            <a:endParaRPr lang="en-US" sz="1075" dirty="0">
              <a:latin typeface="Roboto Black" pitchFamily="2" charset="0"/>
              <a:ea typeface="Roboto Black" pitchFamily="2" charset="0"/>
            </a:endParaRPr>
          </a:p>
        </p:txBody>
      </p:sp>
      <p:sp>
        <p:nvSpPr>
          <p:cNvPr id="15" name="Rectangle: Rounded Corners 14"/>
          <p:cNvSpPr/>
          <p:nvPr/>
        </p:nvSpPr>
        <p:spPr>
          <a:xfrm>
            <a:off x="4649241" y="3948211"/>
            <a:ext cx="750616" cy="420800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33" dirty="0">
                <a:latin typeface="Roboto Black" pitchFamily="2" charset="0"/>
                <a:ea typeface="Roboto Black" pitchFamily="2" charset="0"/>
              </a:rPr>
              <a:t>2009-2010</a:t>
            </a:r>
          </a:p>
        </p:txBody>
      </p:sp>
      <p:sp>
        <p:nvSpPr>
          <p:cNvPr id="16" name="Rectangle: Rounded Corners 15"/>
          <p:cNvSpPr/>
          <p:nvPr/>
        </p:nvSpPr>
        <p:spPr>
          <a:xfrm>
            <a:off x="5748629" y="3948211"/>
            <a:ext cx="750616" cy="420800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26">
                <a:latin typeface="Roboto Black" pitchFamily="2" charset="0"/>
                <a:ea typeface="Roboto Black" pitchFamily="2" charset="0"/>
              </a:rPr>
              <a:t>2011-2012</a:t>
            </a:r>
            <a:endParaRPr lang="en-US" sz="1226" dirty="0">
              <a:latin typeface="Roboto Black" pitchFamily="2" charset="0"/>
              <a:ea typeface="Roboto Black" pitchFamily="2" charset="0"/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6848016" y="3948211"/>
            <a:ext cx="750616" cy="420800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33">
                <a:latin typeface="Roboto Black" pitchFamily="2" charset="0"/>
                <a:ea typeface="Roboto Black" pitchFamily="2" charset="0"/>
              </a:rPr>
              <a:t>2012</a:t>
            </a:r>
            <a:r>
              <a:rPr lang="en-US" sz="1075">
                <a:latin typeface="Roboto Black" pitchFamily="2" charset="0"/>
                <a:ea typeface="Roboto Black" pitchFamily="2" charset="0"/>
              </a:rPr>
              <a:t>-sekarang</a:t>
            </a:r>
            <a:endParaRPr lang="en-US" sz="1075" dirty="0">
              <a:latin typeface="Roboto Black" pitchFamily="2" charset="0"/>
              <a:ea typeface="Roboto Black" pitchFamily="2" charset="0"/>
            </a:endParaRPr>
          </a:p>
        </p:txBody>
      </p:sp>
      <p:sp>
        <p:nvSpPr>
          <p:cNvPr id="18" name="Rectangle: Rounded Corners 17"/>
          <p:cNvSpPr/>
          <p:nvPr/>
        </p:nvSpPr>
        <p:spPr>
          <a:xfrm>
            <a:off x="7947404" y="3948211"/>
            <a:ext cx="750616" cy="420800"/>
          </a:xfrm>
          <a:prstGeom prst="roundRect">
            <a:avLst/>
          </a:prstGeom>
          <a:noFill/>
          <a:ln w="571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33">
                <a:latin typeface="Roboto Black" pitchFamily="2" charset="0"/>
                <a:ea typeface="Roboto Black" pitchFamily="2" charset="0"/>
              </a:rPr>
              <a:t>2020</a:t>
            </a:r>
            <a:endParaRPr lang="en-US" sz="1433" dirty="0">
              <a:latin typeface="Roboto Black" pitchFamily="2" charset="0"/>
              <a:ea typeface="Roboto Black" pitchFamily="2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H="1">
            <a:off x="3893280" y="4389782"/>
            <a:ext cx="5081" cy="40364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019329" y="4407353"/>
            <a:ext cx="5081" cy="40364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H="1">
            <a:off x="6098954" y="4426799"/>
            <a:ext cx="5081" cy="40364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202255" y="4396013"/>
            <a:ext cx="5081" cy="40364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H="1">
            <a:off x="8306357" y="4396013"/>
            <a:ext cx="5081" cy="403643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3341990" y="4812138"/>
            <a:ext cx="1093921" cy="533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55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Politeknik Negeri Banjarmasin</a:t>
            </a:r>
            <a:endParaRPr lang="en-US" sz="955" dirty="0"/>
          </a:p>
        </p:txBody>
      </p:sp>
      <p:sp>
        <p:nvSpPr>
          <p:cNvPr id="26" name="Rectangle 25"/>
          <p:cNvSpPr/>
          <p:nvPr/>
        </p:nvSpPr>
        <p:spPr>
          <a:xfrm>
            <a:off x="4472367" y="4830000"/>
            <a:ext cx="1093921" cy="680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55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Sekolah Tinggi Ilmu Komputer Indonesia </a:t>
            </a:r>
          </a:p>
          <a:p>
            <a:pPr algn="ctr"/>
            <a:r>
              <a:rPr lang="en-US" sz="955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(STIKI) Malang</a:t>
            </a:r>
            <a:endParaRPr lang="en-US" sz="955" dirty="0"/>
          </a:p>
        </p:txBody>
      </p:sp>
      <p:sp>
        <p:nvSpPr>
          <p:cNvPr id="27" name="Rectangle 26"/>
          <p:cNvSpPr/>
          <p:nvPr/>
        </p:nvSpPr>
        <p:spPr>
          <a:xfrm>
            <a:off x="5549041" y="4833957"/>
            <a:ext cx="1093921" cy="6801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55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Politeknik Negeri Elektronika Surabaya</a:t>
            </a:r>
            <a:endParaRPr lang="en-US" sz="955" dirty="0"/>
          </a:p>
        </p:txBody>
      </p:sp>
      <p:sp>
        <p:nvSpPr>
          <p:cNvPr id="28" name="Rectangle 27"/>
          <p:cNvSpPr/>
          <p:nvPr/>
        </p:nvSpPr>
        <p:spPr>
          <a:xfrm>
            <a:off x="6640833" y="4833957"/>
            <a:ext cx="1126245" cy="8271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55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STKIP PGRI Banjarmasin</a:t>
            </a:r>
            <a:br>
              <a:rPr lang="en-US" sz="955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r>
              <a:rPr lang="en-US" sz="955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/</a:t>
            </a:r>
          </a:p>
          <a:p>
            <a:pPr algn="ctr"/>
            <a:r>
              <a:rPr lang="en-US" sz="955" dirty="0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Universitas PGRI Kalimantan</a:t>
            </a:r>
            <a:endParaRPr lang="en-US" sz="955" dirty="0"/>
          </a:p>
        </p:txBody>
      </p:sp>
      <p:sp>
        <p:nvSpPr>
          <p:cNvPr id="29" name="Rectangle 28"/>
          <p:cNvSpPr/>
          <p:nvPr/>
        </p:nvSpPr>
        <p:spPr>
          <a:xfrm>
            <a:off x="7767078" y="4833956"/>
            <a:ext cx="1093921" cy="2392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955">
                <a:solidFill>
                  <a:srgbClr val="000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UNISKA</a:t>
            </a:r>
            <a:endParaRPr lang="en-US" sz="955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EB08B6-C140-484C-9B0F-0A59889CC818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/>
        <p:txBody>
          <a:bodyPr>
            <a:normAutofit fontScale="55000" lnSpcReduction="20000"/>
          </a:bodyPr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5A2F0A-9297-1D4D-DBA6-42080D3ACDD0}"/>
              </a:ext>
            </a:extLst>
          </p:cNvPr>
          <p:cNvSpPr/>
          <p:nvPr/>
        </p:nvSpPr>
        <p:spPr>
          <a:xfrm>
            <a:off x="2506943" y="5542957"/>
            <a:ext cx="3745080" cy="276997"/>
          </a:xfrm>
          <a:prstGeom prst="rect">
            <a:avLst/>
          </a:prstGeom>
        </p:spPr>
        <p:txBody>
          <a:bodyPr wrap="none" lIns="68493" tIns="34289" rIns="68493" bIns="34289">
            <a:spAutoFit/>
          </a:bodyPr>
          <a:lstStyle/>
          <a:p>
            <a:pPr defTabSz="684797"/>
            <a:r>
              <a:rPr lang="en-US" sz="1350" b="1" dirty="0" err="1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Staf</a:t>
            </a:r>
            <a:r>
              <a:rPr lang="en-US" sz="1350" b="1" dirty="0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Pengajar</a:t>
            </a:r>
            <a:r>
              <a:rPr lang="en-US" sz="1350" b="1" dirty="0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fungsional</a:t>
            </a:r>
            <a:r>
              <a:rPr lang="en-US" sz="1350" b="1" dirty="0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Lektor</a:t>
            </a:r>
            <a:r>
              <a:rPr lang="en-US" sz="1350" b="1" dirty="0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1350" b="1" dirty="0" err="1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Kepala</a:t>
            </a:r>
            <a:r>
              <a:rPr lang="en-US" sz="1350" b="1" dirty="0">
                <a:solidFill>
                  <a:srgbClr val="00B0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4C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C747A9-DE6B-9F8B-4EB1-16CEA24432DB}"/>
              </a:ext>
            </a:extLst>
          </p:cNvPr>
          <p:cNvSpPr/>
          <p:nvPr/>
        </p:nvSpPr>
        <p:spPr>
          <a:xfrm>
            <a:off x="2526234" y="4785180"/>
            <a:ext cx="138388" cy="407802"/>
          </a:xfrm>
          <a:prstGeom prst="rect">
            <a:avLst/>
          </a:prstGeom>
        </p:spPr>
        <p:txBody>
          <a:bodyPr wrap="none" lIns="68493" tIns="34289" rIns="68493" bIns="34289">
            <a:spAutoFit/>
          </a:bodyPr>
          <a:lstStyle/>
          <a:p>
            <a:pPr defTabSz="684797"/>
            <a:br>
              <a:rPr lang="da-DK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</a:br>
            <a:endParaRPr lang="en-US" sz="1100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35269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1" fill="hold" nodeType="withEffect">
                                  <p:stCondLst>
                                    <p:cond delay="5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6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grpId="0" nodeType="withEffect">
                                  <p:stCondLst>
                                    <p:cond delay="75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nodeType="withEffect">
                                  <p:stCondLst>
                                    <p:cond delay="85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90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5" grpId="0"/>
      <p:bldP spid="26" grpId="0"/>
      <p:bldP spid="27" grpId="0"/>
      <p:bldP spid="28" grpId="0"/>
      <p:bldP spid="29" grpId="0"/>
      <p:bldP spid="2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2F5EA-1726-85E2-4E93-C81B828D5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3F9381-27A5-3F53-31BE-58E1961D4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6D8CB47-FDFC-94AA-7AA6-765599030F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5477"/>
            <a:ext cx="12192000" cy="584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818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8F94F-C591-9FF8-37CE-2D84C2499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5FFCD0-4984-AA0F-CB71-63B3E13493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B4CC7D-D5D4-9E5A-907F-71CB54312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0703"/>
            <a:ext cx="12192000" cy="611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422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C3555-0CF1-F74D-BEB9-7F110B2B3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192E15-4C36-D433-5DC2-28D9AE7E6A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B8A47D-317E-C2D0-D9E7-ECE438E54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9383"/>
            <a:ext cx="12192000" cy="6139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6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6A17A-3DA2-13BF-DE47-5655658F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DF22FC-0B7E-67D1-E6B3-C88269B139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382BB4-B31E-4060-DB91-ABBD708FC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576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7BEB7-C49E-9E1D-DA67-A2E451CD6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500753-434E-46EE-3C74-8FDCA7E09C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4F6E46-5A0B-E9E3-C747-E19A2FB4B7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348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8DA7-8BA6-0FA3-45B3-FEF3D0ABB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0B03B-3323-A768-D497-71EBEE6AD7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49B1B1-4D60-4846-35C7-58E0F0047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4302"/>
            <a:ext cx="12192000" cy="6109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098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50C2B-034A-0423-32A9-4C396B7AF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F55AE2-5E79-3E2A-F734-93552164A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61381C-8713-A6A1-044D-93F348F54A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8342"/>
            <a:ext cx="12192000" cy="5581316"/>
          </a:xfrm>
          <a:prstGeom prst="rect">
            <a:avLst/>
          </a:prstGeom>
        </p:spPr>
      </p:pic>
      <p:pic>
        <p:nvPicPr>
          <p:cNvPr id="1026" name="Picture 2" descr="Building a ChatGPT-like Client with Cursor AI: My Experience">
            <a:extLst>
              <a:ext uri="{FF2B5EF4-FFF2-40B4-BE49-F238E27FC236}">
                <a16:creationId xmlns:a16="http://schemas.microsoft.com/office/drawing/2014/main" id="{58D848B6-EBE3-4B58-2D45-DCA83E2BED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49" y="1293988"/>
            <a:ext cx="3267075" cy="1833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1289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C5377-083E-E5F9-F013-B6C316AA3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F55FE9-FA67-CF90-C187-879270BA8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E5C2F1-3247-E7F6-1500-7BA5829A5A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0" name="Picture 2" descr="Promo Hosting, Domain dan VPS ...">
            <a:extLst>
              <a:ext uri="{FF2B5EF4-FFF2-40B4-BE49-F238E27FC236}">
                <a16:creationId xmlns:a16="http://schemas.microsoft.com/office/drawing/2014/main" id="{5B8CAE97-941A-5DA8-00BB-CFBF7A94C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5416" y="1825625"/>
            <a:ext cx="3819525" cy="1200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980D4D-D01F-4A1D-DAE7-1BD5071297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7543" y="5217319"/>
            <a:ext cx="4267200" cy="132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950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B74CC-4E0D-0C63-D40A-3781436EA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1F5A2-5A6E-E4D3-E319-195BC91A1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747DC6-7A47-DCF6-0481-29968EA7AC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983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3B9DE-1C1D-B545-A66E-6B6134BE1A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A38ED-A17F-4305-0E1C-42E40D82BC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0B113B-17B9-E7AF-7BAF-8BAA266BDB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6237"/>
            <a:ext cx="12192000" cy="60255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7387D87-B3C2-3DA8-67E9-DBB0BB2EE1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166" y="3429000"/>
            <a:ext cx="2228502" cy="125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11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/>
        </p:nvSpPr>
        <p:spPr>
          <a:xfrm>
            <a:off x="-943933" y="158333"/>
            <a:ext cx="366000" cy="2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>
              <a:buClr>
                <a:srgbClr val="000000"/>
              </a:buClr>
              <a:buSzPts val="1400"/>
            </a:pP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1" name="Google Shape;121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4824" y="-32395"/>
            <a:ext cx="972800" cy="616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860578" y="6008795"/>
            <a:ext cx="1359988" cy="861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3"/>
          <p:cNvSpPr/>
          <p:nvPr/>
        </p:nvSpPr>
        <p:spPr>
          <a:xfrm>
            <a:off x="441575" y="158334"/>
            <a:ext cx="7533623" cy="697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>
              <a:buClr>
                <a:srgbClr val="000000"/>
              </a:buClr>
              <a:buSzPts val="2800"/>
            </a:pPr>
            <a:r>
              <a:rPr lang="en-US" sz="3733" b="1">
                <a:solidFill>
                  <a:srgbClr val="002060"/>
                </a:solidFill>
                <a:latin typeface="Cambria"/>
                <a:ea typeface="Cambria"/>
                <a:cs typeface="Cambria"/>
                <a:sym typeface="Cambria"/>
              </a:rPr>
              <a:t>Tools Instalasi</a:t>
            </a:r>
            <a:endParaRPr sz="3200">
              <a:solidFill>
                <a:srgbClr val="002060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441573" y="1169271"/>
            <a:ext cx="11285371" cy="7140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spAutoFit/>
          </a:bodyPr>
          <a:lstStyle/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1800"/>
              <a:buFont typeface="Cambria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Laravel Herd / Laragon / Xampp</a:t>
            </a:r>
            <a:endParaRPr sz="1867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1800"/>
              <a:buFont typeface="Cambria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Sublime Text 3 / Visual Code Studio / cursor</a:t>
            </a:r>
            <a:endParaRPr sz="1867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1800"/>
              <a:buFont typeface="Cambria"/>
              <a:buAutoNum type="arabicPeriod"/>
            </a:pPr>
            <a:r>
              <a:rPr lang="en-US" sz="2400" dirty="0">
                <a:solidFill>
                  <a:srgbClr val="000000"/>
                </a:solidFill>
                <a:latin typeface="Cambria"/>
                <a:ea typeface="Cambria"/>
                <a:cs typeface="Cambria"/>
                <a:sym typeface="Cambria"/>
              </a:rPr>
              <a:t>Git</a:t>
            </a:r>
          </a:p>
          <a:p>
            <a:pPr marL="457189" indent="-457189">
              <a:lnSpc>
                <a:spcPct val="150000"/>
              </a:lnSpc>
              <a:buClr>
                <a:srgbClr val="000000"/>
              </a:buClr>
              <a:buSzPts val="1800"/>
              <a:buFont typeface="Cambria"/>
              <a:buAutoNum type="arabicPeriod"/>
            </a:pPr>
            <a:r>
              <a:rPr lang="en-US" sz="2400" dirty="0">
                <a:latin typeface="Cambria"/>
                <a:ea typeface="Cambria"/>
                <a:cs typeface="Cambria"/>
                <a:sym typeface="Cambria"/>
              </a:rPr>
              <a:t>Composer</a:t>
            </a:r>
            <a:endParaRPr sz="1867" dirty="0">
              <a:solidFill>
                <a:srgbClr val="000000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>
              <a:buClr>
                <a:srgbClr val="000000"/>
              </a:buClr>
              <a:buSzPts val="1800"/>
            </a:pPr>
            <a:endParaRPr sz="2400" dirty="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19892901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Metode Penilaian</a:t>
            </a:r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2000250" y="1658939"/>
          <a:ext cx="8320088" cy="4859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579498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C406B-B226-49C1-8ABB-5160D826B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A1138-3906-4440-9E93-53DF0A4CFE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F0E6B2-0B21-4FC3-B5FD-903559EED1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912" y="0"/>
            <a:ext cx="688217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92275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63B1F-CC54-4CF6-BA1A-C79C4DB1B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6DBE1-AE9C-4EAE-9744-9A27AF54B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1EEC43-3E89-4252-9BEA-CE60EE75E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6853" y="0"/>
            <a:ext cx="68982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736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7DEED-2598-43F6-8078-76E761F55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53704C-B587-4B1C-93B7-7C5EB3A86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A65E10-AB62-44D2-ABFD-A6A061BB5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079" y="0"/>
            <a:ext cx="68258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1125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B22CC-9D7E-4F77-BDA9-EFDAE809E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767C-CEAD-4C4F-8EDB-5E5755A93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2B1FE9-79A4-4D82-B1B3-2C669CA01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980" y="0"/>
            <a:ext cx="686604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333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713D1-BD85-453F-B345-1E181D099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F9C78B-A94B-4FEE-A086-497047153F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A1E890-4B20-4F8A-AD87-27EC64F0E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3023" y="0"/>
            <a:ext cx="682595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6469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F66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B7CE584-99C1-611C-504C-6B1E389757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188" y="643467"/>
            <a:ext cx="6259624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6771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C3CDF-E9B1-4A98-97B4-C5339AC87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EB60B-589F-4F8C-9127-DEB641C1A9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7A1F18-A204-4280-AFDF-9913FCFA4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029" y="0"/>
            <a:ext cx="684994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825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187C-2980-42D5-F4DA-011DC751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752B4-F3FB-CCDD-4D77-7F6387F84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A88D3-45F7-6528-12F4-60DD01FD2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772" y="341904"/>
            <a:ext cx="4432662" cy="6043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670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71FA4-662F-61F7-748E-5A2367083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4ABE9-204F-6CD9-B08C-A1825FCB43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6500FA-C9E3-ABC0-122A-BD1199789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126" y="461999"/>
            <a:ext cx="5469925" cy="537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7743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9DB0F-BDF5-46D0-9165-3505E3726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1D867AA-ECBE-4320-89BD-8D38927650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0652" y="218092"/>
            <a:ext cx="5059288" cy="6324110"/>
          </a:xfrm>
        </p:spPr>
      </p:pic>
    </p:spTree>
    <p:extLst>
      <p:ext uri="{BB962C8B-B14F-4D97-AF65-F5344CB8AC3E}">
        <p14:creationId xmlns:p14="http://schemas.microsoft.com/office/powerpoint/2010/main" val="32454346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F87A2-D350-4192-B5F0-7C432153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8AE807-8E48-4C25-8313-C4822AFE89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476215" cy="6510482"/>
          </a:xfr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16F4858-7AD7-82A4-60D9-72B8A7FFD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215" y="-173759"/>
            <a:ext cx="74114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224683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7DB1C-F147-4D60-B981-F01C3BA9E4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giphy2">
            <a:hlinkClick r:id="" action="ppaction://media"/>
            <a:extLst>
              <a:ext uri="{FF2B5EF4-FFF2-40B4-BE49-F238E27FC236}">
                <a16:creationId xmlns:a16="http://schemas.microsoft.com/office/drawing/2014/main" id="{E00AE9B5-B27B-44B3-870B-8EF1B097A4CD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901950" y="1314450"/>
            <a:ext cx="4994275" cy="4994275"/>
          </a:xfrm>
        </p:spPr>
      </p:pic>
    </p:spTree>
    <p:extLst>
      <p:ext uri="{BB962C8B-B14F-4D97-AF65-F5344CB8AC3E}">
        <p14:creationId xmlns:p14="http://schemas.microsoft.com/office/powerpoint/2010/main" val="3035258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0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97D7-9B9C-4265-B7CF-ECA5157D34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CABF25-D62D-4929-860D-E53DF3A0E9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0643" y="365125"/>
            <a:ext cx="4248077" cy="4773188"/>
          </a:xfr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8F500D-1CCE-B42C-B0FF-A4FC145DFE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9667" y="365125"/>
            <a:ext cx="5715000" cy="29908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750C0BD-8572-1134-DA3E-DA8876AA39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376" y="4823460"/>
            <a:ext cx="2857500" cy="160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594A46-1C0E-9871-B0BC-5DF2EC4B23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764" y="3660641"/>
            <a:ext cx="5590903" cy="283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1752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E4D4F-1F13-4CB3-9359-94823F129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id-ID"/>
          </a:p>
        </p:txBody>
      </p:sp>
      <p:pic>
        <p:nvPicPr>
          <p:cNvPr id="4" name="giphy">
            <a:hlinkClick r:id="" action="ppaction://media"/>
            <a:extLst>
              <a:ext uri="{FF2B5EF4-FFF2-40B4-BE49-F238E27FC236}">
                <a16:creationId xmlns:a16="http://schemas.microsoft.com/office/drawing/2014/main" id="{3A4068A6-97AB-4811-99FB-A226CE554A35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35869" y="1270768"/>
            <a:ext cx="9720262" cy="3968750"/>
          </a:xfrm>
        </p:spPr>
      </p:pic>
    </p:spTree>
    <p:extLst>
      <p:ext uri="{BB962C8B-B14F-4D97-AF65-F5344CB8AC3E}">
        <p14:creationId xmlns:p14="http://schemas.microsoft.com/office/powerpoint/2010/main" val="3175157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63A03-B603-EB36-9AB7-4C07C4042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B5B27-7D1D-87BE-9018-622F732246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2B93ED-36B6-5FFA-4D5A-62D9ACD81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4526" y="919713"/>
            <a:ext cx="7593874" cy="5247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029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1291</TotalTime>
  <Words>203</Words>
  <Application>Microsoft Macintosh PowerPoint</Application>
  <PresentationFormat>Widescreen</PresentationFormat>
  <Paragraphs>57</Paragraphs>
  <Slides>30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2" baseType="lpstr">
      <vt:lpstr>Agency FB</vt:lpstr>
      <vt:lpstr>Arial</vt:lpstr>
      <vt:lpstr>Calibri</vt:lpstr>
      <vt:lpstr>Calibri Light</vt:lpstr>
      <vt:lpstr>Cambria</vt:lpstr>
      <vt:lpstr>FontAwesome</vt:lpstr>
      <vt:lpstr>Open Sans</vt:lpstr>
      <vt:lpstr>Roboto Black</vt:lpstr>
      <vt:lpstr>Rockwell</vt:lpstr>
      <vt:lpstr>Segoe UI Semilight</vt:lpstr>
      <vt:lpstr>Wingdings</vt:lpstr>
      <vt:lpstr>Office Theme</vt:lpstr>
      <vt:lpstr>Pemprograman Web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Metode Penilaian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arifin noor</dc:creator>
  <cp:lastModifiedBy>office49089</cp:lastModifiedBy>
  <cp:revision>13</cp:revision>
  <cp:lastPrinted>2026-09-01T01:38:05Z</cp:lastPrinted>
  <dcterms:created xsi:type="dcterms:W3CDTF">2024-04-26T00:42:41Z</dcterms:created>
  <dcterms:modified xsi:type="dcterms:W3CDTF">2026-10-17T01:39:18Z</dcterms:modified>
</cp:coreProperties>
</file>