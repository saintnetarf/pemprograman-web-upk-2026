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embukaan" id="{B2914BFA-C1A6-1707-936A-8CE791F532A7}">
          <p14:sldIdLst>
            <p14:sldId id="256"/>
          </p14:sldIdLst>
        </p14:section>
        <p14:section name="Konsep Web" id="{1D85533B-1DD4-55E0-AD2F-5EF3F597BAF9}">
          <p14:sldIdLst>
            <p14:sldId id="257"/>
            <p14:sldId id="258"/>
            <p14:sldId id="259"/>
            <p14:sldId id="260"/>
            <p14:sldId id="261"/>
          </p14:sldIdLst>
        </p14:section>
        <p14:section name="HTTP" id="{DE8FB4B4-BC09-11D6-A2AF-BD8B85D6EB28}">
          <p14:sldIdLst>
            <p14:sldId id="262"/>
            <p14:sldId id="263"/>
          </p14:sldIdLst>
        </p14:section>
        <p14:section name="Pengembangan Web" id="{9EE8649B-D736-9259-B885-6B847D63A3F3}">
          <p14:sldIdLst>
            <p14:sldId id="264"/>
            <p14:sldId id="265"/>
            <p14:sldId id="266"/>
            <p14:sldId id="267"/>
          </p14:sldIdLst>
        </p14:section>
        <p14:section name="Penutup" id="{8072715A-8B51-734E-AC1C-E0ABDF354569}">
          <p14:sldIdLst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23"/>
    <p:restoredTop sz="94610"/>
  </p:normalViewPr>
  <p:slideViewPr>
    <p:cSldViewPr snapToGrid="0" snapToObjects="1">
      <p:cViewPr varScale="1">
        <p:scale>
          <a:sx n="162" d="100"/>
          <a:sy n="162" d="100"/>
        </p:scale>
        <p:origin x="39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41360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Sambutan dan kontrak kuliah singkat: capaian, penilaian, aturan. Perkenalkan bahwa semester ini berjalan dari HTML sampai Laravel.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Bacakan tiga capaian. Tekankan bahwa praktikum hari ini adalah fondasi untuk seluruh semester.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Tanyakan ke kelas: apakah WhatsApp memakai web? Email? Gunakan untuk membedakan layanan dan infrastruktur.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Tidak perlu menghafal tahun. Fokus pada gambaran: dari dokumen hypertext, ke situs interaktif, ke aplikasi web.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Gambar alur di papan tulis sambil menjelaskan. Tekankan: browser tidak pernah berbicara langsung ke database.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Minta mahasiswa menyebutkan ulang urutan lima langkah tanpa melihat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Tunjukkan bahwa request dan response hanyalah teks terstruktur. Di praktikum, mahasiswa akan melihatnya langsung di DevTools.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Kaitkan metode dengan CRUD. Pola status: 2xx berhasil, 3xx pengalihan, 4xx salah di client, 5xx salah di server.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Minta contoh dari kelas: SIAKAD, e-commerce, portal berita masuk kategori mana?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Petakan teknologi ke pertemuan: front-end pertemuan 2-5, back-end pertemuan 6-7, Laravel menyatukan keduanya.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Pastikan semua mahasiswa memiliki laptop dengan perangkat ini sebelum praktikum dimulai.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Proyek akhir semester mengikuti siklus ini secara ringkas. Ingatkan mahasiswa memulai dari analisis kebutuhan.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Arahkan mahasiswa ke modul praktikum Pertemuan 1. Pengumpulan: laporan dan tautan GitHub sebelum pertemuan berikutnya.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Kuis cepat lisan: sebutkan urutan lima langkah satu permintaan web; bedakan 404 dan 500. Umumkan tugas dan tenggat.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1371600"/>
            <a:ext cx="47548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640" y="3017520"/>
            <a:ext cx="475488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marL="0" indent="0" algn="l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2"/>
                </a:solidFill>
              </a:rPr>
              <a:t>Pemrograman Web · Pertemuan 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137160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</a:rPr>
              <a:t>Pengantar Pemrograman Web</a:t>
            </a:r>
            <a:endParaRPr lang="en-US" sz="4000" dirty="0"/>
          </a:p>
        </p:txBody>
      </p:sp>
      <p:sp>
        <p:nvSpPr>
          <p:cNvPr id="3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640" y="301752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chemeClr val="bg2"/>
                </a:solidFill>
              </a:rPr>
              <a:t>Pertemuan 1 · Cara kerja web, HTTP, dan lingkungan pengembangan</a:t>
            </a:r>
            <a:endParaRPr lang="en-US" sz="1600" dirty="0"/>
          </a:p>
        </p:txBody>
      </p:sp>
      <p:sp>
        <p:nvSpPr>
          <p:cNvPr id="4" name="browser-frame"/>
          <p:cNvSpPr/>
          <p:nvPr/>
        </p:nvSpPr>
        <p:spPr>
          <a:xfrm>
            <a:off x="5577840" y="1051560"/>
            <a:ext cx="3108960" cy="2926080"/>
          </a:xfrm>
          <a:prstGeom prst="roundRect">
            <a:avLst>
              <a:gd name="adj" fmla="val 468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browser-bar"/>
          <p:cNvSpPr/>
          <p:nvPr/>
        </p:nvSpPr>
        <p:spPr>
          <a:xfrm>
            <a:off x="5577840" y="1051560"/>
            <a:ext cx="3108960" cy="457200"/>
          </a:xfrm>
          <a:prstGeom prst="roundRect">
            <a:avLst>
              <a:gd name="adj" fmla="val 3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dot0"/>
          <p:cNvSpPr/>
          <p:nvPr/>
        </p:nvSpPr>
        <p:spPr>
          <a:xfrm>
            <a:off x="5760720" y="1216152"/>
            <a:ext cx="128016" cy="128016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dot1"/>
          <p:cNvSpPr/>
          <p:nvPr/>
        </p:nvSpPr>
        <p:spPr>
          <a:xfrm>
            <a:off x="5961888" y="1216152"/>
            <a:ext cx="128016" cy="128016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dot2"/>
          <p:cNvSpPr/>
          <p:nvPr/>
        </p:nvSpPr>
        <p:spPr>
          <a:xfrm>
            <a:off x="6163056" y="1216152"/>
            <a:ext cx="128016" cy="128016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address-bar"/>
          <p:cNvSpPr/>
          <p:nvPr/>
        </p:nvSpPr>
        <p:spPr>
          <a:xfrm>
            <a:off x="6492240" y="1143000"/>
            <a:ext cx="2057400" cy="274320"/>
          </a:xfrm>
          <a:prstGeom prst="roundRect">
            <a:avLst>
              <a:gd name="adj" fmla="val 3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address-text"/>
          <p:cNvSpPr txBox="1"/>
          <p:nvPr/>
        </p:nvSpPr>
        <p:spPr>
          <a:xfrm>
            <a:off x="6583680" y="11430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chemeClr val="tx2"/>
                </a:solidFill>
              </a:rPr>
              <a:t>https://kampus.ac.id</a:t>
            </a:r>
            <a:endParaRPr lang="en-US" sz="1100" dirty="0"/>
          </a:p>
        </p:txBody>
      </p:sp>
      <p:sp>
        <p:nvSpPr>
          <p:cNvPr id="11" name="browser-code"/>
          <p:cNvSpPr txBox="1"/>
          <p:nvPr/>
        </p:nvSpPr>
        <p:spPr>
          <a:xfrm>
            <a:off x="5852160" y="1828800"/>
            <a:ext cx="2651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&lt;html&gt;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&lt;body&gt;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&lt;h1&gt;Halo, web!&lt;/h1&gt;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&lt;/body&gt;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&lt;/html&gt;</a:t>
            </a:r>
            <a:endParaRPr lang="en-US" sz="1400" dirty="0"/>
          </a:p>
        </p:txBody>
      </p:sp>
      <p:sp>
        <p:nvSpPr>
          <p:cNvPr id="12" name="browser-status"/>
          <p:cNvSpPr txBox="1"/>
          <p:nvPr/>
        </p:nvSpPr>
        <p:spPr>
          <a:xfrm>
            <a:off x="5852160" y="34290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chemeClr val="accent1"/>
                </a:solidFill>
              </a:rPr>
              <a:t>200 OK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Capaian Pembelajaran</a:t>
            </a:r>
            <a:endParaRPr lang="en-US" sz="3400" dirty="0"/>
          </a:p>
        </p:txBody>
      </p:sp>
      <p:sp>
        <p:nvSpPr>
          <p:cNvPr id="4" name="cap-card0"/>
          <p:cNvSpPr/>
          <p:nvPr/>
        </p:nvSpPr>
        <p:spPr>
          <a:xfrm>
            <a:off x="548640" y="1371600"/>
            <a:ext cx="2560320" cy="292608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cap0-circle"/>
          <p:cNvSpPr/>
          <p:nvPr/>
        </p:nvSpPr>
        <p:spPr>
          <a:xfrm>
            <a:off x="777240" y="16002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cap0-num"/>
          <p:cNvSpPr txBox="1"/>
          <p:nvPr/>
        </p:nvSpPr>
        <p:spPr>
          <a:xfrm>
            <a:off x="77724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cap-h0"/>
          <p:cNvSpPr txBox="1"/>
          <p:nvPr/>
        </p:nvSpPr>
        <p:spPr>
          <a:xfrm>
            <a:off x="777240" y="23317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chemeClr val="tx2"/>
                </a:solidFill>
              </a:rPr>
              <a:t>Memahami web</a:t>
            </a:r>
            <a:endParaRPr lang="en-US" sz="2000" dirty="0"/>
          </a:p>
        </p:txBody>
      </p:sp>
      <p:sp>
        <p:nvSpPr>
          <p:cNvPr id="8" name="cap-p0"/>
          <p:cNvSpPr txBox="1"/>
          <p:nvPr/>
        </p:nvSpPr>
        <p:spPr>
          <a:xfrm>
            <a:off x="777240" y="278892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chemeClr val="tx1"/>
                </a:solidFill>
              </a:rPr>
              <a:t>Menjelaskan cara kerja web, arsitektur client-server, dan peran DNS.</a:t>
            </a:r>
            <a:endParaRPr lang="en-US" sz="1500" dirty="0"/>
          </a:p>
        </p:txBody>
      </p:sp>
      <p:sp>
        <p:nvSpPr>
          <p:cNvPr id="9" name="cap-card1"/>
          <p:cNvSpPr/>
          <p:nvPr/>
        </p:nvSpPr>
        <p:spPr>
          <a:xfrm>
            <a:off x="3291840" y="1371600"/>
            <a:ext cx="2560320" cy="292608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cap1-circle"/>
          <p:cNvSpPr/>
          <p:nvPr/>
        </p:nvSpPr>
        <p:spPr>
          <a:xfrm>
            <a:off x="3520440" y="1600200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cap1-num"/>
          <p:cNvSpPr txBox="1"/>
          <p:nvPr/>
        </p:nvSpPr>
        <p:spPr>
          <a:xfrm>
            <a:off x="352044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cap-h1"/>
          <p:cNvSpPr txBox="1"/>
          <p:nvPr/>
        </p:nvSpPr>
        <p:spPr>
          <a:xfrm>
            <a:off x="3520440" y="23317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chemeClr val="tx2"/>
                </a:solidFill>
              </a:rPr>
              <a:t>Membaca HTTP</a:t>
            </a:r>
            <a:endParaRPr lang="en-US" sz="2000" dirty="0"/>
          </a:p>
        </p:txBody>
      </p:sp>
      <p:sp>
        <p:nvSpPr>
          <p:cNvPr id="13" name="cap-p1"/>
          <p:cNvSpPr txBox="1"/>
          <p:nvPr/>
        </p:nvSpPr>
        <p:spPr>
          <a:xfrm>
            <a:off x="3520440" y="278892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chemeClr val="tx1"/>
                </a:solidFill>
              </a:rPr>
              <a:t>Menjelaskan request, response, metode, dan kode status.</a:t>
            </a:r>
            <a:endParaRPr lang="en-US" sz="1500" dirty="0"/>
          </a:p>
        </p:txBody>
      </p:sp>
      <p:sp>
        <p:nvSpPr>
          <p:cNvPr id="14" name="cap-card2"/>
          <p:cNvSpPr/>
          <p:nvPr/>
        </p:nvSpPr>
        <p:spPr>
          <a:xfrm>
            <a:off x="6035040" y="1371600"/>
            <a:ext cx="2560320" cy="292608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cap2-circle"/>
          <p:cNvSpPr/>
          <p:nvPr/>
        </p:nvSpPr>
        <p:spPr>
          <a:xfrm>
            <a:off x="6263640" y="160020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cap2-num"/>
          <p:cNvSpPr txBox="1"/>
          <p:nvPr/>
        </p:nvSpPr>
        <p:spPr>
          <a:xfrm>
            <a:off x="626364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cap-h2"/>
          <p:cNvSpPr txBox="1"/>
          <p:nvPr/>
        </p:nvSpPr>
        <p:spPr>
          <a:xfrm>
            <a:off x="6263640" y="23317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chemeClr val="tx2"/>
                </a:solidFill>
              </a:rPr>
              <a:t>Menyiapkan alat</a:t>
            </a:r>
            <a:endParaRPr lang="en-US" sz="2000" dirty="0"/>
          </a:p>
        </p:txBody>
      </p:sp>
      <p:sp>
        <p:nvSpPr>
          <p:cNvPr id="18" name="cap-p2"/>
          <p:cNvSpPr txBox="1"/>
          <p:nvPr/>
        </p:nvSpPr>
        <p:spPr>
          <a:xfrm>
            <a:off x="6263640" y="278892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chemeClr val="tx1"/>
                </a:solidFill>
              </a:rPr>
              <a:t>Memasang Laragon, VS Code, dan Git untuk seluruh semester.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Internet vs Web</a:t>
            </a:r>
            <a:endParaRPr lang="en-US" sz="3400" dirty="0"/>
          </a:p>
        </p:txBody>
      </p:sp>
      <p:sp>
        <p:nvSpPr>
          <p:cNvPr id="4" name="net-card"/>
          <p:cNvSpPr/>
          <p:nvPr/>
        </p:nvSpPr>
        <p:spPr>
          <a:xfrm>
            <a:off x="548640" y="1280160"/>
            <a:ext cx="393192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web-card"/>
          <p:cNvSpPr/>
          <p:nvPr/>
        </p:nvSpPr>
        <p:spPr>
          <a:xfrm>
            <a:off x="4663440" y="1280160"/>
            <a:ext cx="393192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net-h"/>
          <p:cNvSpPr txBox="1"/>
          <p:nvPr/>
        </p:nvSpPr>
        <p:spPr>
          <a:xfrm>
            <a:off x="777240" y="1463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chemeClr val="accent3"/>
                </a:solidFill>
              </a:rPr>
              <a:t>Internet</a:t>
            </a:r>
            <a:endParaRPr lang="en-US" sz="2200" dirty="0"/>
          </a:p>
        </p:txBody>
      </p:sp>
      <p:sp>
        <p:nvSpPr>
          <p:cNvPr id="7" name="net-p"/>
          <p:cNvSpPr txBox="1"/>
          <p:nvPr/>
        </p:nvSpPr>
        <p:spPr>
          <a:xfrm>
            <a:off x="777240" y="192024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Infrastruktur jaringan global</a:t>
            </a:r>
            <a:endParaRPr lang="en-US" sz="14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Menghubungkan miliaran perangkat lewat TCP/IP</a:t>
            </a:r>
            <a:endParaRPr lang="en-US" sz="14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Menjalankan banyak layanan: web, email, FTP</a:t>
            </a:r>
            <a:endParaRPr lang="en-US" sz="1400" dirty="0"/>
          </a:p>
        </p:txBody>
      </p:sp>
      <p:sp>
        <p:nvSpPr>
          <p:cNvPr id="8" name="web-h"/>
          <p:cNvSpPr txBox="1"/>
          <p:nvPr/>
        </p:nvSpPr>
        <p:spPr>
          <a:xfrm>
            <a:off x="4892040" y="1463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chemeClr val="accent1"/>
                </a:solidFill>
              </a:rPr>
              <a:t>World Wide Web</a:t>
            </a:r>
            <a:endParaRPr lang="en-US" sz="2200" dirty="0"/>
          </a:p>
        </p:txBody>
      </p:sp>
      <p:sp>
        <p:nvSpPr>
          <p:cNvPr id="9" name="web-p"/>
          <p:cNvSpPr txBox="1"/>
          <p:nvPr/>
        </p:nvSpPr>
        <p:spPr>
          <a:xfrm>
            <a:off x="4892040" y="192024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Salah satu layanan di atas internet</a:t>
            </a:r>
            <a:endParaRPr lang="en-US" sz="14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Dokumen saling terhubung lewat hyperlink</a:t>
            </a:r>
            <a:endParaRPr lang="en-US" sz="14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Diakses dengan browser memakai HTTP/HTTPS</a:t>
            </a:r>
            <a:endParaRPr lang="en-US" sz="1400" dirty="0"/>
          </a:p>
        </p:txBody>
      </p:sp>
      <p:sp>
        <p:nvSpPr>
          <p:cNvPr id="10" name="net-note"/>
          <p:cNvSpPr/>
          <p:nvPr/>
        </p:nvSpPr>
        <p:spPr>
          <a:xfrm>
            <a:off x="548640" y="3840480"/>
            <a:ext cx="8046720" cy="640080"/>
          </a:xfrm>
          <a:prstGeom prst="roundRect">
            <a:avLst>
              <a:gd name="adj" fmla="val 1714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net-note-text"/>
          <p:cNvSpPr txBox="1"/>
          <p:nvPr/>
        </p:nvSpPr>
        <p:spPr>
          <a:xfrm>
            <a:off x="777240" y="384048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bg1"/>
                </a:solidFill>
              </a:rPr>
              <a:t>Web bukan sinonim internet: web hanyalah satu cara memanfaatkan internet.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Sejarah Singkat Web</a:t>
            </a:r>
            <a:endParaRPr lang="en-US" sz="3400" dirty="0"/>
          </a:p>
        </p:txBody>
      </p:sp>
      <p:sp>
        <p:nvSpPr>
          <p:cNvPr id="4" name="timeline-line"/>
          <p:cNvSpPr/>
          <p:nvPr/>
        </p:nvSpPr>
        <p:spPr>
          <a:xfrm>
            <a:off x="1280160" y="2103120"/>
            <a:ext cx="6583680" cy="0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l-dot0"/>
          <p:cNvSpPr/>
          <p:nvPr/>
        </p:nvSpPr>
        <p:spPr>
          <a:xfrm>
            <a:off x="1124712" y="1947672"/>
            <a:ext cx="310896" cy="310896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l-year0"/>
          <p:cNvSpPr txBox="1"/>
          <p:nvPr/>
        </p:nvSpPr>
        <p:spPr>
          <a:xfrm>
            <a:off x="548640" y="13716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2"/>
                </a:solidFill>
              </a:rPr>
              <a:t>1989</a:t>
            </a:r>
            <a:endParaRPr lang="en-US" sz="2200" dirty="0"/>
          </a:p>
        </p:txBody>
      </p:sp>
      <p:sp>
        <p:nvSpPr>
          <p:cNvPr id="7" name="tl-text0"/>
          <p:cNvSpPr txBox="1"/>
          <p:nvPr/>
        </p:nvSpPr>
        <p:spPr>
          <a:xfrm>
            <a:off x="548640" y="251460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Usulan hypertext oleh Tim Berners-Lee di CERN</a:t>
            </a:r>
            <a:endParaRPr lang="en-US" sz="1400" dirty="0"/>
          </a:p>
        </p:txBody>
      </p:sp>
      <p:sp>
        <p:nvSpPr>
          <p:cNvPr id="8" name="tl-dot1"/>
          <p:cNvSpPr/>
          <p:nvPr/>
        </p:nvSpPr>
        <p:spPr>
          <a:xfrm>
            <a:off x="2770632" y="1947672"/>
            <a:ext cx="310896" cy="310896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l-year1"/>
          <p:cNvSpPr txBox="1"/>
          <p:nvPr/>
        </p:nvSpPr>
        <p:spPr>
          <a:xfrm>
            <a:off x="2194560" y="13716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2"/>
                </a:solidFill>
              </a:rPr>
              <a:t>1993</a:t>
            </a:r>
            <a:endParaRPr lang="en-US" sz="2200" dirty="0"/>
          </a:p>
        </p:txBody>
      </p:sp>
      <p:sp>
        <p:nvSpPr>
          <p:cNvPr id="10" name="tl-text1"/>
          <p:cNvSpPr txBox="1"/>
          <p:nvPr/>
        </p:nvSpPr>
        <p:spPr>
          <a:xfrm>
            <a:off x="2194560" y="251460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Teknologi web dibuka untuk publik; browser Mosaic</a:t>
            </a:r>
            <a:endParaRPr lang="en-US" sz="1400" dirty="0"/>
          </a:p>
        </p:txBody>
      </p:sp>
      <p:sp>
        <p:nvSpPr>
          <p:cNvPr id="11" name="tl-dot2"/>
          <p:cNvSpPr/>
          <p:nvPr/>
        </p:nvSpPr>
        <p:spPr>
          <a:xfrm>
            <a:off x="4416552" y="1947672"/>
            <a:ext cx="310896" cy="310896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l-year2"/>
          <p:cNvSpPr txBox="1"/>
          <p:nvPr/>
        </p:nvSpPr>
        <p:spPr>
          <a:xfrm>
            <a:off x="3840480" y="13716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2"/>
                </a:solidFill>
              </a:rPr>
              <a:t>1995</a:t>
            </a:r>
            <a:endParaRPr lang="en-US" sz="2200" dirty="0"/>
          </a:p>
        </p:txBody>
      </p:sp>
      <p:sp>
        <p:nvSpPr>
          <p:cNvPr id="13" name="tl-text2"/>
          <p:cNvSpPr txBox="1"/>
          <p:nvPr/>
        </p:nvSpPr>
        <p:spPr>
          <a:xfrm>
            <a:off x="3840480" y="251460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JavaScript dan PHP lahir</a:t>
            </a:r>
            <a:endParaRPr lang="en-US" sz="1400" dirty="0"/>
          </a:p>
        </p:txBody>
      </p:sp>
      <p:sp>
        <p:nvSpPr>
          <p:cNvPr id="14" name="tl-dot3"/>
          <p:cNvSpPr/>
          <p:nvPr/>
        </p:nvSpPr>
        <p:spPr>
          <a:xfrm>
            <a:off x="6062472" y="1947672"/>
            <a:ext cx="310896" cy="310896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l-year3"/>
          <p:cNvSpPr txBox="1"/>
          <p:nvPr/>
        </p:nvSpPr>
        <p:spPr>
          <a:xfrm>
            <a:off x="5486400" y="13716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2"/>
                </a:solidFill>
              </a:rPr>
              <a:t>± 2004</a:t>
            </a:r>
            <a:endParaRPr lang="en-US" sz="2200" dirty="0"/>
          </a:p>
        </p:txBody>
      </p:sp>
      <p:sp>
        <p:nvSpPr>
          <p:cNvPr id="16" name="tl-text3"/>
          <p:cNvSpPr txBox="1"/>
          <p:nvPr/>
        </p:nvSpPr>
        <p:spPr>
          <a:xfrm>
            <a:off x="5486400" y="251460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Web 2.0: konten dibuat pengguna</a:t>
            </a:r>
            <a:endParaRPr lang="en-US" sz="1400" dirty="0"/>
          </a:p>
        </p:txBody>
      </p:sp>
      <p:sp>
        <p:nvSpPr>
          <p:cNvPr id="17" name="tl-dot4"/>
          <p:cNvSpPr/>
          <p:nvPr/>
        </p:nvSpPr>
        <p:spPr>
          <a:xfrm>
            <a:off x="7708392" y="1947672"/>
            <a:ext cx="310896" cy="310896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l-year4"/>
          <p:cNvSpPr txBox="1"/>
          <p:nvPr/>
        </p:nvSpPr>
        <p:spPr>
          <a:xfrm>
            <a:off x="7132320" y="13716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2"/>
                </a:solidFill>
              </a:rPr>
              <a:t>Kini</a:t>
            </a:r>
            <a:endParaRPr lang="en-US" sz="2200" dirty="0"/>
          </a:p>
        </p:txBody>
      </p:sp>
      <p:sp>
        <p:nvSpPr>
          <p:cNvPr id="19" name="tl-text4"/>
          <p:cNvSpPr txBox="1"/>
          <p:nvPr/>
        </p:nvSpPr>
        <p:spPr>
          <a:xfrm>
            <a:off x="7132320" y="251460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Aplikasi web, API, dan framework modern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Arsitektur Client-Server</a:t>
            </a:r>
            <a:endParaRPr lang="en-US" sz="3400" dirty="0"/>
          </a:p>
        </p:txBody>
      </p:sp>
      <p:sp>
        <p:nvSpPr>
          <p:cNvPr id="4" name="box0"/>
          <p:cNvSpPr/>
          <p:nvPr/>
        </p:nvSpPr>
        <p:spPr>
          <a:xfrm>
            <a:off x="548640" y="2103120"/>
            <a:ext cx="2377440" cy="1554480"/>
          </a:xfrm>
          <a:prstGeom prst="roundRect">
            <a:avLst>
              <a:gd name="adj" fmla="val 7059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box-h0"/>
          <p:cNvSpPr txBox="1"/>
          <p:nvPr/>
        </p:nvSpPr>
        <p:spPr>
          <a:xfrm>
            <a:off x="731520" y="22860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chemeClr val="bg1"/>
                </a:solidFill>
              </a:rPr>
              <a:t>Client</a:t>
            </a:r>
            <a:endParaRPr lang="en-US" sz="2200" dirty="0"/>
          </a:p>
        </p:txBody>
      </p:sp>
      <p:sp>
        <p:nvSpPr>
          <p:cNvPr id="6" name="box-p0"/>
          <p:cNvSpPr txBox="1"/>
          <p:nvPr/>
        </p:nvSpPr>
        <p:spPr>
          <a:xfrm>
            <a:off x="731520" y="278892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chemeClr val="bg1"/>
                </a:solidFill>
              </a:rPr>
              <a:t>Browser di perangkat pengguna</a:t>
            </a:r>
            <a:endParaRPr lang="en-US" sz="1500" dirty="0"/>
          </a:p>
        </p:txBody>
      </p:sp>
      <p:sp>
        <p:nvSpPr>
          <p:cNvPr id="7" name="box1"/>
          <p:cNvSpPr/>
          <p:nvPr/>
        </p:nvSpPr>
        <p:spPr>
          <a:xfrm>
            <a:off x="3383280" y="2103120"/>
            <a:ext cx="2377440" cy="1554480"/>
          </a:xfrm>
          <a:prstGeom prst="roundRect">
            <a:avLst>
              <a:gd name="adj" fmla="val 705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box-h1"/>
          <p:cNvSpPr txBox="1"/>
          <p:nvPr/>
        </p:nvSpPr>
        <p:spPr>
          <a:xfrm>
            <a:off x="3566160" y="22860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chemeClr val="bg1"/>
                </a:solidFill>
              </a:rPr>
              <a:t>Web Server</a:t>
            </a:r>
            <a:endParaRPr lang="en-US" sz="2200" dirty="0"/>
          </a:p>
        </p:txBody>
      </p:sp>
      <p:sp>
        <p:nvSpPr>
          <p:cNvPr id="9" name="box-p1"/>
          <p:cNvSpPr txBox="1"/>
          <p:nvPr/>
        </p:nvSpPr>
        <p:spPr>
          <a:xfrm>
            <a:off x="3566160" y="278892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chemeClr val="bg1"/>
                </a:solidFill>
              </a:rPr>
              <a:t>Apache/Nginx + PHP</a:t>
            </a:r>
            <a:endParaRPr lang="en-US" sz="1500" dirty="0"/>
          </a:p>
        </p:txBody>
      </p:sp>
      <p:sp>
        <p:nvSpPr>
          <p:cNvPr id="10" name="box2"/>
          <p:cNvSpPr/>
          <p:nvPr/>
        </p:nvSpPr>
        <p:spPr>
          <a:xfrm>
            <a:off x="6217920" y="2103120"/>
            <a:ext cx="2377440" cy="1554480"/>
          </a:xfrm>
          <a:prstGeom prst="roundRect">
            <a:avLst>
              <a:gd name="adj" fmla="val 7059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box-h2"/>
          <p:cNvSpPr txBox="1"/>
          <p:nvPr/>
        </p:nvSpPr>
        <p:spPr>
          <a:xfrm>
            <a:off x="6400800" y="22860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chemeClr val="tx2"/>
                </a:solidFill>
              </a:rPr>
              <a:t>Database</a:t>
            </a:r>
            <a:endParaRPr lang="en-US" sz="2200" dirty="0"/>
          </a:p>
        </p:txBody>
      </p:sp>
      <p:sp>
        <p:nvSpPr>
          <p:cNvPr id="12" name="box-p2"/>
          <p:cNvSpPr txBox="1"/>
          <p:nvPr/>
        </p:nvSpPr>
        <p:spPr>
          <a:xfrm>
            <a:off x="6400800" y="278892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chemeClr val="tx2"/>
                </a:solidFill>
              </a:rPr>
              <a:t>MySQL</a:t>
            </a:r>
            <a:endParaRPr lang="en-US" sz="1500" dirty="0"/>
          </a:p>
        </p:txBody>
      </p:sp>
      <p:sp>
        <p:nvSpPr>
          <p:cNvPr id="13" name="arrow-r0"/>
          <p:cNvSpPr/>
          <p:nvPr/>
        </p:nvSpPr>
        <p:spPr>
          <a:xfrm>
            <a:off x="2971800" y="2651760"/>
            <a:ext cx="365760" cy="274320"/>
          </a:xfrm>
          <a:prstGeom prst="rightArrow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arrow-r1"/>
          <p:cNvSpPr/>
          <p:nvPr/>
        </p:nvSpPr>
        <p:spPr>
          <a:xfrm>
            <a:off x="5806440" y="2651760"/>
            <a:ext cx="365760" cy="274320"/>
          </a:xfrm>
          <a:prstGeom prst="rightArrow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dns-pill"/>
          <p:cNvSpPr/>
          <p:nvPr/>
        </p:nvSpPr>
        <p:spPr>
          <a:xfrm>
            <a:off x="1097280" y="1280160"/>
            <a:ext cx="3108960" cy="45720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dns-text"/>
          <p:cNvSpPr txBox="1"/>
          <p:nvPr/>
        </p:nvSpPr>
        <p:spPr>
          <a:xfrm>
            <a:off x="1097280" y="12801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DNS: nama domain → alamat IP</a:t>
            </a:r>
            <a:endParaRPr lang="en-US" sz="1400" dirty="0"/>
          </a:p>
        </p:txBody>
      </p:sp>
      <p:sp>
        <p:nvSpPr>
          <p:cNvPr id="17" name="flow-caption"/>
          <p:cNvSpPr txBox="1"/>
          <p:nvPr/>
        </p:nvSpPr>
        <p:spPr>
          <a:xfrm>
            <a:off x="548640" y="39776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chemeClr val="tx2"/>
                </a:solidFill>
              </a:rPr>
              <a:t>Request mengalir ke kanan; response kembali ke kiri sebagai HTML.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Alur Satu Permintaan Web</a:t>
            </a:r>
            <a:endParaRPr lang="en-US" sz="3400" dirty="0"/>
          </a:p>
        </p:txBody>
      </p:sp>
      <p:sp>
        <p:nvSpPr>
          <p:cNvPr id="4" name="flow-card0"/>
          <p:cNvSpPr/>
          <p:nvPr/>
        </p:nvSpPr>
        <p:spPr>
          <a:xfrm>
            <a:off x="548640" y="1463040"/>
            <a:ext cx="1499616" cy="2651760"/>
          </a:xfrm>
          <a:prstGeom prst="roundRect">
            <a:avLst>
              <a:gd name="adj" fmla="val 73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flow0-circle"/>
          <p:cNvSpPr/>
          <p:nvPr/>
        </p:nvSpPr>
        <p:spPr>
          <a:xfrm>
            <a:off x="1051560" y="16916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flow0-num"/>
          <p:cNvSpPr txBox="1"/>
          <p:nvPr/>
        </p:nvSpPr>
        <p:spPr>
          <a:xfrm>
            <a:off x="105156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flow-t0"/>
          <p:cNvSpPr txBox="1"/>
          <p:nvPr/>
        </p:nvSpPr>
        <p:spPr>
          <a:xfrm>
            <a:off x="685800" y="2423160"/>
            <a:ext cx="1234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tx1"/>
                </a:solidFill>
              </a:rPr>
              <a:t>Ketik URL di browser</a:t>
            </a:r>
            <a:endParaRPr lang="en-US" sz="1500" dirty="0"/>
          </a:p>
        </p:txBody>
      </p:sp>
      <p:sp>
        <p:nvSpPr>
          <p:cNvPr id="8" name="flow-card1"/>
          <p:cNvSpPr/>
          <p:nvPr/>
        </p:nvSpPr>
        <p:spPr>
          <a:xfrm>
            <a:off x="2185416" y="1463040"/>
            <a:ext cx="1499616" cy="2651760"/>
          </a:xfrm>
          <a:prstGeom prst="roundRect">
            <a:avLst>
              <a:gd name="adj" fmla="val 73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flow1-circle"/>
          <p:cNvSpPr/>
          <p:nvPr/>
        </p:nvSpPr>
        <p:spPr>
          <a:xfrm>
            <a:off x="2688336" y="1691640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flow1-num"/>
          <p:cNvSpPr txBox="1"/>
          <p:nvPr/>
        </p:nvSpPr>
        <p:spPr>
          <a:xfrm>
            <a:off x="2688336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flow-t1"/>
          <p:cNvSpPr txBox="1"/>
          <p:nvPr/>
        </p:nvSpPr>
        <p:spPr>
          <a:xfrm>
            <a:off x="2322576" y="2423160"/>
            <a:ext cx="1234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tx1"/>
                </a:solidFill>
              </a:rPr>
              <a:t>DNS mencari alamat IP</a:t>
            </a:r>
            <a:endParaRPr lang="en-US" sz="1500" dirty="0"/>
          </a:p>
        </p:txBody>
      </p:sp>
      <p:sp>
        <p:nvSpPr>
          <p:cNvPr id="12" name="flow-card2"/>
          <p:cNvSpPr/>
          <p:nvPr/>
        </p:nvSpPr>
        <p:spPr>
          <a:xfrm>
            <a:off x="3822192" y="1463040"/>
            <a:ext cx="1499616" cy="2651760"/>
          </a:xfrm>
          <a:prstGeom prst="roundRect">
            <a:avLst>
              <a:gd name="adj" fmla="val 73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flow2-circle"/>
          <p:cNvSpPr/>
          <p:nvPr/>
        </p:nvSpPr>
        <p:spPr>
          <a:xfrm>
            <a:off x="4325112" y="16916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flow2-num"/>
          <p:cNvSpPr txBox="1"/>
          <p:nvPr/>
        </p:nvSpPr>
        <p:spPr>
          <a:xfrm>
            <a:off x="4325112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flow-t2"/>
          <p:cNvSpPr txBox="1"/>
          <p:nvPr/>
        </p:nvSpPr>
        <p:spPr>
          <a:xfrm>
            <a:off x="3959352" y="2423160"/>
            <a:ext cx="1234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tx1"/>
                </a:solidFill>
              </a:rPr>
              <a:t>Browser kirim HTTP request</a:t>
            </a:r>
            <a:endParaRPr lang="en-US" sz="1500" dirty="0"/>
          </a:p>
        </p:txBody>
      </p:sp>
      <p:sp>
        <p:nvSpPr>
          <p:cNvPr id="16" name="flow-card3"/>
          <p:cNvSpPr/>
          <p:nvPr/>
        </p:nvSpPr>
        <p:spPr>
          <a:xfrm>
            <a:off x="5458968" y="1463040"/>
            <a:ext cx="1499616" cy="2651760"/>
          </a:xfrm>
          <a:prstGeom prst="roundRect">
            <a:avLst>
              <a:gd name="adj" fmla="val 73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flow3-circle"/>
          <p:cNvSpPr/>
          <p:nvPr/>
        </p:nvSpPr>
        <p:spPr>
          <a:xfrm>
            <a:off x="5961888" y="1691640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flow3-num"/>
          <p:cNvSpPr txBox="1"/>
          <p:nvPr/>
        </p:nvSpPr>
        <p:spPr>
          <a:xfrm>
            <a:off x="5961888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9" name="flow-t3"/>
          <p:cNvSpPr txBox="1"/>
          <p:nvPr/>
        </p:nvSpPr>
        <p:spPr>
          <a:xfrm>
            <a:off x="5596128" y="2423160"/>
            <a:ext cx="1234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tx1"/>
                </a:solidFill>
              </a:rPr>
              <a:t>Server memproses (PHP, database)</a:t>
            </a:r>
            <a:endParaRPr lang="en-US" sz="1500" dirty="0"/>
          </a:p>
        </p:txBody>
      </p:sp>
      <p:sp>
        <p:nvSpPr>
          <p:cNvPr id="20" name="flow-card4"/>
          <p:cNvSpPr/>
          <p:nvPr/>
        </p:nvSpPr>
        <p:spPr>
          <a:xfrm>
            <a:off x="7095744" y="1463040"/>
            <a:ext cx="1499616" cy="2651760"/>
          </a:xfrm>
          <a:prstGeom prst="roundRect">
            <a:avLst>
              <a:gd name="adj" fmla="val 73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flow4-circle"/>
          <p:cNvSpPr/>
          <p:nvPr/>
        </p:nvSpPr>
        <p:spPr>
          <a:xfrm>
            <a:off x="7598664" y="16916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flow4-num"/>
          <p:cNvSpPr txBox="1"/>
          <p:nvPr/>
        </p:nvSpPr>
        <p:spPr>
          <a:xfrm>
            <a:off x="7598664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3" name="flow-t4"/>
          <p:cNvSpPr txBox="1"/>
          <p:nvPr/>
        </p:nvSpPr>
        <p:spPr>
          <a:xfrm>
            <a:off x="7232904" y="2423160"/>
            <a:ext cx="1234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tx1"/>
                </a:solidFill>
              </a:rPr>
              <a:t>Response HTML dirender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HTTP Request dan Response</a:t>
            </a:r>
            <a:endParaRPr lang="en-US" sz="3400" dirty="0"/>
          </a:p>
        </p:txBody>
      </p:sp>
      <p:sp>
        <p:nvSpPr>
          <p:cNvPr id="4" name="req"/>
          <p:cNvSpPr/>
          <p:nvPr/>
        </p:nvSpPr>
        <p:spPr>
          <a:xfrm>
            <a:off x="548640" y="1280160"/>
            <a:ext cx="3931920" cy="2468880"/>
          </a:xfrm>
          <a:prstGeom prst="roundRect">
            <a:avLst>
              <a:gd name="adj" fmla="val 444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req-label"/>
          <p:cNvSpPr txBox="1"/>
          <p:nvPr/>
        </p:nvSpPr>
        <p:spPr>
          <a:xfrm>
            <a:off x="777240" y="14173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chemeClr val="accent2"/>
                </a:solidFill>
              </a:rPr>
              <a:t>Request (client → server)</a:t>
            </a:r>
            <a:endParaRPr lang="en-US" sz="1800" dirty="0"/>
          </a:p>
        </p:txBody>
      </p:sp>
      <p:sp>
        <p:nvSpPr>
          <p:cNvPr id="6" name="req-code"/>
          <p:cNvSpPr txBox="1"/>
          <p:nvPr/>
        </p:nvSpPr>
        <p:spPr>
          <a:xfrm>
            <a:off x="777240" y="1920240"/>
            <a:ext cx="3474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page/</a:t>
            </a:r>
            <a:r>
              <a:rPr lang="en-US" sz="1400" dirty="0" err="1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visi-misi</a:t>
            </a: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HTTP/1.1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Host: </a:t>
            </a:r>
            <a:r>
              <a:rPr lang="en-US" sz="1400" dirty="0" err="1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upk.ac.id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Accept: text/html</a:t>
            </a:r>
            <a:endParaRPr lang="en-US" sz="1400" dirty="0"/>
          </a:p>
        </p:txBody>
      </p:sp>
      <p:sp>
        <p:nvSpPr>
          <p:cNvPr id="7" name="res"/>
          <p:cNvSpPr/>
          <p:nvPr/>
        </p:nvSpPr>
        <p:spPr>
          <a:xfrm>
            <a:off x="4663440" y="1280160"/>
            <a:ext cx="3931920" cy="2468880"/>
          </a:xfrm>
          <a:prstGeom prst="roundRect">
            <a:avLst>
              <a:gd name="adj" fmla="val 444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res-label"/>
          <p:cNvSpPr txBox="1"/>
          <p:nvPr/>
        </p:nvSpPr>
        <p:spPr>
          <a:xfrm>
            <a:off x="4892040" y="14173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chemeClr val="bg2"/>
                </a:solidFill>
              </a:rPr>
              <a:t>Response (server → client)</a:t>
            </a:r>
            <a:endParaRPr lang="en-US" sz="1800" dirty="0"/>
          </a:p>
        </p:txBody>
      </p:sp>
      <p:sp>
        <p:nvSpPr>
          <p:cNvPr id="9" name="res-code"/>
          <p:cNvSpPr txBox="1"/>
          <p:nvPr/>
        </p:nvSpPr>
        <p:spPr>
          <a:xfrm>
            <a:off x="4892040" y="1920240"/>
            <a:ext cx="3474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HTTP/1.1 200 OK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Content-Type: text/html</a:t>
            </a:r>
            <a:endParaRPr lang="en-US" sz="1400" dirty="0"/>
          </a:p>
          <a:p>
            <a:pPr marL="0" indent="0" algn="l">
              <a:buNone/>
            </a:pP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&lt;html&gt; ... &lt;/html&gt;</a:t>
            </a:r>
            <a:endParaRPr lang="en-US" sz="1400" dirty="0"/>
          </a:p>
        </p:txBody>
      </p:sp>
      <p:sp>
        <p:nvSpPr>
          <p:cNvPr id="10" name="http-cap"/>
          <p:cNvSpPr txBox="1"/>
          <p:nvPr/>
        </p:nvSpPr>
        <p:spPr>
          <a:xfrm>
            <a:off x="548640" y="40233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chemeClr val="tx2"/>
                </a:solidFill>
              </a:rPr>
              <a:t>Request: metode + path + header + body (opsional). Response: status + header + body.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Metode HTTP dan Kode Status</a:t>
            </a:r>
            <a:endParaRPr lang="en-US" sz="3400" dirty="0"/>
          </a:p>
        </p:txBody>
      </p:sp>
      <p:graphicFrame>
        <p:nvGraphicFramePr>
          <p:cNvPr id="9" name="method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3840480" cy="237744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Metode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BFC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Fungsi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BFC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GET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BFC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Membaca data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BFC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POST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BFC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Membuat data baru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BFC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PUT / PATCH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BFC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Mengubah data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BFC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DELETE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BFC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Menghapus data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BFC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7" name="status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371600"/>
          <a:ext cx="3840480" cy="237744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Kode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BFC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Arti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BFC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200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BFC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OK, berhasil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BFC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301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BFC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Dialihkan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BFC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404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BFC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Tidak ditemukan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BFC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500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BFC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Kesalahan server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BFC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tatus-note"/>
          <p:cNvSpPr/>
          <p:nvPr/>
        </p:nvSpPr>
        <p:spPr>
          <a:xfrm>
            <a:off x="548640" y="4023360"/>
            <a:ext cx="8046720" cy="54864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tatus-note-text"/>
          <p:cNvSpPr txBox="1"/>
          <p:nvPr/>
        </p:nvSpPr>
        <p:spPr>
          <a:xfrm>
            <a:off x="777240" y="402336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2"/>
                </a:solidFill>
              </a:rPr>
              <a:t>Form HTML hanya mendukung GET dan POST; PUT/PATCH/DELETE kita temui lagi di Laravel.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Web Statis vs Web Dinamis</a:t>
            </a:r>
            <a:endParaRPr lang="en-US" sz="3400" dirty="0"/>
          </a:p>
        </p:txBody>
      </p:sp>
      <p:sp>
        <p:nvSpPr>
          <p:cNvPr id="4" name="statis"/>
          <p:cNvSpPr/>
          <p:nvPr/>
        </p:nvSpPr>
        <p:spPr>
          <a:xfrm>
            <a:off x="548640" y="1280160"/>
            <a:ext cx="3931920" cy="3200400"/>
          </a:xfrm>
          <a:prstGeom prst="roundRect">
            <a:avLst>
              <a:gd name="adj" fmla="val 3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tatis-head"/>
          <p:cNvSpPr/>
          <p:nvPr/>
        </p:nvSpPr>
        <p:spPr>
          <a:xfrm>
            <a:off x="548640" y="1280160"/>
            <a:ext cx="3931920" cy="640080"/>
          </a:xfrm>
          <a:prstGeom prst="roundRect">
            <a:avLst>
              <a:gd name="adj" fmla="val 17143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tatis-title"/>
          <p:cNvSpPr txBox="1"/>
          <p:nvPr/>
        </p:nvSpPr>
        <p:spPr>
          <a:xfrm>
            <a:off x="777240" y="12801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chemeClr val="bg1"/>
                </a:solidFill>
              </a:rPr>
              <a:t>Statis</a:t>
            </a:r>
            <a:endParaRPr lang="en-US" sz="2200" dirty="0"/>
          </a:p>
        </p:txBody>
      </p:sp>
      <p:sp>
        <p:nvSpPr>
          <p:cNvPr id="7" name="statis-list"/>
          <p:cNvSpPr txBox="1"/>
          <p:nvPr/>
        </p:nvSpPr>
        <p:spPr>
          <a:xfrm>
            <a:off x="777240" y="2103120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Berkas HTML apa adanya</a:t>
            </a:r>
            <a:endParaRPr lang="en-US" sz="15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Isi sama untuk semua pengunjung</a:t>
            </a:r>
            <a:endParaRPr lang="en-US" sz="15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Tanpa database</a:t>
            </a:r>
            <a:endParaRPr lang="en-US" sz="15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Contoh: profil, landing page</a:t>
            </a:r>
            <a:endParaRPr lang="en-US" sz="1500" dirty="0"/>
          </a:p>
        </p:txBody>
      </p:sp>
      <p:sp>
        <p:nvSpPr>
          <p:cNvPr id="8" name="dinamis"/>
          <p:cNvSpPr/>
          <p:nvPr/>
        </p:nvSpPr>
        <p:spPr>
          <a:xfrm>
            <a:off x="4663440" y="1280160"/>
            <a:ext cx="3931920" cy="3200400"/>
          </a:xfrm>
          <a:prstGeom prst="roundRect">
            <a:avLst>
              <a:gd name="adj" fmla="val 3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dinamis-head"/>
          <p:cNvSpPr/>
          <p:nvPr/>
        </p:nvSpPr>
        <p:spPr>
          <a:xfrm>
            <a:off x="4663440" y="1280160"/>
            <a:ext cx="3931920" cy="640080"/>
          </a:xfrm>
          <a:prstGeom prst="roundRect">
            <a:avLst>
              <a:gd name="adj" fmla="val 1714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dinamis-title"/>
          <p:cNvSpPr txBox="1"/>
          <p:nvPr/>
        </p:nvSpPr>
        <p:spPr>
          <a:xfrm>
            <a:off x="4892040" y="12801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chemeClr val="bg1"/>
                </a:solidFill>
              </a:rPr>
              <a:t>Dinamis</a:t>
            </a:r>
            <a:endParaRPr lang="en-US" sz="2200" dirty="0"/>
          </a:p>
        </p:txBody>
      </p:sp>
      <p:sp>
        <p:nvSpPr>
          <p:cNvPr id="11" name="dinamis-list"/>
          <p:cNvSpPr txBox="1"/>
          <p:nvPr/>
        </p:nvSpPr>
        <p:spPr>
          <a:xfrm>
            <a:off x="4892040" y="2103120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Halaman dibangkitkan server</a:t>
            </a:r>
            <a:endParaRPr lang="en-US" sz="15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Isi bergantung pengguna dan data</a:t>
            </a:r>
            <a:endParaRPr lang="en-US" sz="15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Memakai database</a:t>
            </a:r>
            <a:endParaRPr lang="en-US" sz="15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Contoh: SIAKAD, toko daring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Front-end dan Back-end</a:t>
            </a:r>
            <a:endParaRPr lang="en-US" sz="3400" dirty="0"/>
          </a:p>
        </p:txBody>
      </p:sp>
      <p:sp>
        <p:nvSpPr>
          <p:cNvPr id="4" name="fe-card"/>
          <p:cNvSpPr/>
          <p:nvPr/>
        </p:nvSpPr>
        <p:spPr>
          <a:xfrm>
            <a:off x="548640" y="1280160"/>
            <a:ext cx="3657600" cy="3200400"/>
          </a:xfrm>
          <a:prstGeom prst="roundRect">
            <a:avLst>
              <a:gd name="adj" fmla="val 3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be-card"/>
          <p:cNvSpPr/>
          <p:nvPr/>
        </p:nvSpPr>
        <p:spPr>
          <a:xfrm>
            <a:off x="4937760" y="1280160"/>
            <a:ext cx="3657600" cy="3200400"/>
          </a:xfrm>
          <a:prstGeom prst="roundRect">
            <a:avLst>
              <a:gd name="adj" fmla="val 3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fe-h"/>
          <p:cNvSpPr txBox="1"/>
          <p:nvPr/>
        </p:nvSpPr>
        <p:spPr>
          <a:xfrm>
            <a:off x="777240" y="14630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chemeClr val="accent3"/>
                </a:solidFill>
              </a:rPr>
              <a:t>Front-end</a:t>
            </a:r>
            <a:endParaRPr lang="en-US" sz="2200" dirty="0"/>
          </a:p>
        </p:txBody>
      </p:sp>
      <p:sp>
        <p:nvSpPr>
          <p:cNvPr id="7" name="fe-s"/>
          <p:cNvSpPr txBox="1"/>
          <p:nvPr/>
        </p:nvSpPr>
        <p:spPr>
          <a:xfrm>
            <a:off x="777240" y="1874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2"/>
                </a:solidFill>
              </a:rPr>
              <a:t>Berjalan di browser</a:t>
            </a:r>
            <a:endParaRPr lang="en-US" sz="1400" dirty="0"/>
          </a:p>
        </p:txBody>
      </p:sp>
      <p:sp>
        <p:nvSpPr>
          <p:cNvPr id="8" name="fe-l"/>
          <p:cNvSpPr txBox="1"/>
          <p:nvPr/>
        </p:nvSpPr>
        <p:spPr>
          <a:xfrm>
            <a:off x="777240" y="2377440"/>
            <a:ext cx="3200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HTML: struktur</a:t>
            </a:r>
            <a:endParaRPr lang="en-US" sz="15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CSS dan Tailwind: tampilan</a:t>
            </a:r>
            <a:endParaRPr lang="en-US" sz="15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JavaScript dan Alpine.js: interaksi</a:t>
            </a:r>
            <a:endParaRPr lang="en-US" sz="1500" dirty="0"/>
          </a:p>
        </p:txBody>
      </p:sp>
      <p:sp>
        <p:nvSpPr>
          <p:cNvPr id="9" name="be-h"/>
          <p:cNvSpPr txBox="1"/>
          <p:nvPr/>
        </p:nvSpPr>
        <p:spPr>
          <a:xfrm>
            <a:off x="5166360" y="14630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chemeClr val="accent1"/>
                </a:solidFill>
              </a:rPr>
              <a:t>Back-end</a:t>
            </a:r>
            <a:endParaRPr lang="en-US" sz="2200" dirty="0"/>
          </a:p>
        </p:txBody>
      </p:sp>
      <p:sp>
        <p:nvSpPr>
          <p:cNvPr id="10" name="be-s"/>
          <p:cNvSpPr txBox="1"/>
          <p:nvPr/>
        </p:nvSpPr>
        <p:spPr>
          <a:xfrm>
            <a:off x="5166360" y="1874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2"/>
                </a:solidFill>
              </a:rPr>
              <a:t>Berjalan di server</a:t>
            </a:r>
            <a:endParaRPr lang="en-US" sz="1400" dirty="0"/>
          </a:p>
        </p:txBody>
      </p:sp>
      <p:sp>
        <p:nvSpPr>
          <p:cNvPr id="11" name="be-l"/>
          <p:cNvSpPr txBox="1"/>
          <p:nvPr/>
        </p:nvSpPr>
        <p:spPr>
          <a:xfrm>
            <a:off x="5166360" y="2377440"/>
            <a:ext cx="3200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PHP: logika aplikasi</a:t>
            </a:r>
            <a:endParaRPr lang="en-US" sz="15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MySQL: penyimpanan data</a:t>
            </a:r>
            <a:endParaRPr lang="en-US" sz="15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Laravel: kerangka kerja MVC</a:t>
            </a:r>
            <a:endParaRPr lang="en-US" sz="1500" dirty="0"/>
          </a:p>
        </p:txBody>
      </p:sp>
      <p:sp>
        <p:nvSpPr>
          <p:cNvPr id="12" name="fs-circle"/>
          <p:cNvSpPr/>
          <p:nvPr/>
        </p:nvSpPr>
        <p:spPr>
          <a:xfrm>
            <a:off x="4251960" y="2468880"/>
            <a:ext cx="640080" cy="640080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fs-text"/>
          <p:cNvSpPr txBox="1"/>
          <p:nvPr/>
        </p:nvSpPr>
        <p:spPr>
          <a:xfrm>
            <a:off x="4251960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HTTP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Lingkungan Pengembangan</a:t>
            </a:r>
            <a:endParaRPr lang="en-US" sz="3400" dirty="0"/>
          </a:p>
        </p:txBody>
      </p:sp>
      <p:sp>
        <p:nvSpPr>
          <p:cNvPr id="4" name="tool-card0"/>
          <p:cNvSpPr/>
          <p:nvPr/>
        </p:nvSpPr>
        <p:spPr>
          <a:xfrm>
            <a:off x="548640" y="1280160"/>
            <a:ext cx="256032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ool-dot0"/>
          <p:cNvSpPr/>
          <p:nvPr/>
        </p:nvSpPr>
        <p:spPr>
          <a:xfrm>
            <a:off x="731520" y="1463040"/>
            <a:ext cx="365760" cy="3657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ool-h0"/>
          <p:cNvSpPr txBox="1"/>
          <p:nvPr/>
        </p:nvSpPr>
        <p:spPr>
          <a:xfrm>
            <a:off x="1234440" y="14630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chemeClr val="tx2"/>
                </a:solidFill>
              </a:rPr>
              <a:t>VS Code</a:t>
            </a:r>
            <a:endParaRPr lang="en-US" sz="1700" dirty="0"/>
          </a:p>
        </p:txBody>
      </p:sp>
      <p:sp>
        <p:nvSpPr>
          <p:cNvPr id="7" name="tool-p0"/>
          <p:cNvSpPr txBox="1"/>
          <p:nvPr/>
        </p:nvSpPr>
        <p:spPr>
          <a:xfrm>
            <a:off x="731520" y="19659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Editor kode dan ekstensi</a:t>
            </a:r>
            <a:endParaRPr lang="en-US" sz="1400" dirty="0"/>
          </a:p>
        </p:txBody>
      </p:sp>
      <p:sp>
        <p:nvSpPr>
          <p:cNvPr id="8" name="tool-card1"/>
          <p:cNvSpPr/>
          <p:nvPr/>
        </p:nvSpPr>
        <p:spPr>
          <a:xfrm>
            <a:off x="3291840" y="1280160"/>
            <a:ext cx="256032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ool-dot1"/>
          <p:cNvSpPr/>
          <p:nvPr/>
        </p:nvSpPr>
        <p:spPr>
          <a:xfrm>
            <a:off x="3474720" y="146304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ool-h1"/>
          <p:cNvSpPr txBox="1"/>
          <p:nvPr/>
        </p:nvSpPr>
        <p:spPr>
          <a:xfrm>
            <a:off x="3977640" y="14630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chemeClr val="tx2"/>
                </a:solidFill>
              </a:rPr>
              <a:t>Laragon</a:t>
            </a:r>
            <a:endParaRPr lang="en-US" sz="1700" dirty="0"/>
          </a:p>
        </p:txBody>
      </p:sp>
      <p:sp>
        <p:nvSpPr>
          <p:cNvPr id="11" name="tool-p1"/>
          <p:cNvSpPr txBox="1"/>
          <p:nvPr/>
        </p:nvSpPr>
        <p:spPr>
          <a:xfrm>
            <a:off x="3474720" y="19659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Apache, PHP, dan MySQL dalam satu paket</a:t>
            </a:r>
            <a:endParaRPr lang="en-US" sz="1400" dirty="0"/>
          </a:p>
        </p:txBody>
      </p:sp>
      <p:sp>
        <p:nvSpPr>
          <p:cNvPr id="12" name="tool-card2"/>
          <p:cNvSpPr/>
          <p:nvPr/>
        </p:nvSpPr>
        <p:spPr>
          <a:xfrm>
            <a:off x="6035040" y="1280160"/>
            <a:ext cx="256032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ool-dot2"/>
          <p:cNvSpPr/>
          <p:nvPr/>
        </p:nvSpPr>
        <p:spPr>
          <a:xfrm>
            <a:off x="6217920" y="1463040"/>
            <a:ext cx="365760" cy="36576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ool-h2"/>
          <p:cNvSpPr txBox="1"/>
          <p:nvPr/>
        </p:nvSpPr>
        <p:spPr>
          <a:xfrm>
            <a:off x="6720840" y="14630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chemeClr val="tx2"/>
                </a:solidFill>
              </a:rPr>
              <a:t>Composer</a:t>
            </a:r>
            <a:endParaRPr lang="en-US" sz="1700" dirty="0"/>
          </a:p>
        </p:txBody>
      </p:sp>
      <p:sp>
        <p:nvSpPr>
          <p:cNvPr id="15" name="tool-p2"/>
          <p:cNvSpPr txBox="1"/>
          <p:nvPr/>
        </p:nvSpPr>
        <p:spPr>
          <a:xfrm>
            <a:off x="6217920" y="19659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Manajer paket PHP untuk Laravel</a:t>
            </a:r>
            <a:endParaRPr lang="en-US" sz="1400" dirty="0"/>
          </a:p>
        </p:txBody>
      </p:sp>
      <p:sp>
        <p:nvSpPr>
          <p:cNvPr id="16" name="tool-card3"/>
          <p:cNvSpPr/>
          <p:nvPr/>
        </p:nvSpPr>
        <p:spPr>
          <a:xfrm>
            <a:off x="548640" y="2926080"/>
            <a:ext cx="256032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ool-dot3"/>
          <p:cNvSpPr/>
          <p:nvPr/>
        </p:nvSpPr>
        <p:spPr>
          <a:xfrm>
            <a:off x="731520" y="3108960"/>
            <a:ext cx="365760" cy="36576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ool-h3"/>
          <p:cNvSpPr txBox="1"/>
          <p:nvPr/>
        </p:nvSpPr>
        <p:spPr>
          <a:xfrm>
            <a:off x="1234440" y="31089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chemeClr val="tx2"/>
                </a:solidFill>
              </a:rPr>
              <a:t>Node.js dan npm</a:t>
            </a:r>
            <a:endParaRPr lang="en-US" sz="1700" dirty="0"/>
          </a:p>
        </p:txBody>
      </p:sp>
      <p:sp>
        <p:nvSpPr>
          <p:cNvPr id="19" name="tool-p3"/>
          <p:cNvSpPr txBox="1"/>
          <p:nvPr/>
        </p:nvSpPr>
        <p:spPr>
          <a:xfrm>
            <a:off x="731520" y="36118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Menjalankan Vite untuk aset front-end</a:t>
            </a:r>
            <a:endParaRPr lang="en-US" sz="1400" dirty="0"/>
          </a:p>
        </p:txBody>
      </p:sp>
      <p:sp>
        <p:nvSpPr>
          <p:cNvPr id="20" name="tool-card4"/>
          <p:cNvSpPr/>
          <p:nvPr/>
        </p:nvSpPr>
        <p:spPr>
          <a:xfrm>
            <a:off x="3291840" y="2926080"/>
            <a:ext cx="256032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ool-dot4"/>
          <p:cNvSpPr/>
          <p:nvPr/>
        </p:nvSpPr>
        <p:spPr>
          <a:xfrm>
            <a:off x="3474720" y="3108960"/>
            <a:ext cx="365760" cy="36576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ool-h4"/>
          <p:cNvSpPr txBox="1"/>
          <p:nvPr/>
        </p:nvSpPr>
        <p:spPr>
          <a:xfrm>
            <a:off x="3977640" y="31089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chemeClr val="tx2"/>
                </a:solidFill>
              </a:rPr>
              <a:t>Git dan GitHub</a:t>
            </a:r>
            <a:endParaRPr lang="en-US" sz="1700" dirty="0"/>
          </a:p>
        </p:txBody>
      </p:sp>
      <p:sp>
        <p:nvSpPr>
          <p:cNvPr id="23" name="tool-p4"/>
          <p:cNvSpPr txBox="1"/>
          <p:nvPr/>
        </p:nvSpPr>
        <p:spPr>
          <a:xfrm>
            <a:off x="3474720" y="36118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Kontrol versi dan pengumpulan tugas</a:t>
            </a:r>
            <a:endParaRPr lang="en-US" sz="1400" dirty="0"/>
          </a:p>
        </p:txBody>
      </p:sp>
      <p:sp>
        <p:nvSpPr>
          <p:cNvPr id="24" name="tool-card5"/>
          <p:cNvSpPr/>
          <p:nvPr/>
        </p:nvSpPr>
        <p:spPr>
          <a:xfrm>
            <a:off x="6035040" y="2926080"/>
            <a:ext cx="256032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ool-dot5"/>
          <p:cNvSpPr/>
          <p:nvPr/>
        </p:nvSpPr>
        <p:spPr>
          <a:xfrm>
            <a:off x="6217920" y="3108960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ool-h5"/>
          <p:cNvSpPr txBox="1"/>
          <p:nvPr/>
        </p:nvSpPr>
        <p:spPr>
          <a:xfrm>
            <a:off x="6720840" y="31089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chemeClr val="tx2"/>
                </a:solidFill>
              </a:rPr>
              <a:t>DevTools</a:t>
            </a:r>
            <a:endParaRPr lang="en-US" sz="1700" dirty="0"/>
          </a:p>
        </p:txBody>
      </p:sp>
      <p:sp>
        <p:nvSpPr>
          <p:cNvPr id="27" name="tool-p5"/>
          <p:cNvSpPr txBox="1"/>
          <p:nvPr/>
        </p:nvSpPr>
        <p:spPr>
          <a:xfrm>
            <a:off x="6217920" y="36118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Memeriksa HTML, CSS, dan HTTP (F12)</a:t>
            </a:r>
            <a:endParaRPr lang="en-US" sz="14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Siklus Pengembangan Web</a:t>
            </a:r>
            <a:endParaRPr lang="en-US" sz="3400" dirty="0"/>
          </a:p>
        </p:txBody>
      </p:sp>
      <p:sp>
        <p:nvSpPr>
          <p:cNvPr id="4" name="step0"/>
          <p:cNvSpPr/>
          <p:nvPr/>
        </p:nvSpPr>
        <p:spPr>
          <a:xfrm>
            <a:off x="548640" y="3108960"/>
            <a:ext cx="1499616" cy="1097280"/>
          </a:xfrm>
          <a:prstGeom prst="roundRect">
            <a:avLst>
              <a:gd name="adj" fmla="val 83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tep-n0"/>
          <p:cNvSpPr txBox="1"/>
          <p:nvPr/>
        </p:nvSpPr>
        <p:spPr>
          <a:xfrm>
            <a:off x="685800" y="321868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bg1"/>
                </a:solidFill>
              </a:rPr>
              <a:t>1</a:t>
            </a:r>
            <a:endParaRPr lang="en-US" sz="2400" dirty="0"/>
          </a:p>
        </p:txBody>
      </p:sp>
      <p:sp>
        <p:nvSpPr>
          <p:cNvPr id="6" name="step-t0"/>
          <p:cNvSpPr txBox="1"/>
          <p:nvPr/>
        </p:nvSpPr>
        <p:spPr>
          <a:xfrm>
            <a:off x="685800" y="36576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bg1"/>
                </a:solidFill>
              </a:rPr>
              <a:t>Analisis kebutuhan</a:t>
            </a:r>
            <a:endParaRPr lang="en-US" sz="1400" dirty="0"/>
          </a:p>
        </p:txBody>
      </p:sp>
      <p:sp>
        <p:nvSpPr>
          <p:cNvPr id="7" name="step1"/>
          <p:cNvSpPr/>
          <p:nvPr/>
        </p:nvSpPr>
        <p:spPr>
          <a:xfrm>
            <a:off x="2185416" y="2788920"/>
            <a:ext cx="1499616" cy="1417320"/>
          </a:xfrm>
          <a:prstGeom prst="roundRect">
            <a:avLst>
              <a:gd name="adj" fmla="val 645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tep-n1"/>
          <p:cNvSpPr txBox="1"/>
          <p:nvPr/>
        </p:nvSpPr>
        <p:spPr>
          <a:xfrm>
            <a:off x="2322576" y="289864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bg1"/>
                </a:solidFill>
              </a:rPr>
              <a:t>2</a:t>
            </a:r>
            <a:endParaRPr lang="en-US" sz="2400" dirty="0"/>
          </a:p>
        </p:txBody>
      </p:sp>
      <p:sp>
        <p:nvSpPr>
          <p:cNvPr id="9" name="step-t1"/>
          <p:cNvSpPr txBox="1"/>
          <p:nvPr/>
        </p:nvSpPr>
        <p:spPr>
          <a:xfrm>
            <a:off x="2322576" y="3337560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bg1"/>
                </a:solidFill>
              </a:rPr>
              <a:t>Desain UI dan database</a:t>
            </a:r>
            <a:endParaRPr lang="en-US" sz="1400" dirty="0"/>
          </a:p>
        </p:txBody>
      </p:sp>
      <p:sp>
        <p:nvSpPr>
          <p:cNvPr id="10" name="step2"/>
          <p:cNvSpPr/>
          <p:nvPr/>
        </p:nvSpPr>
        <p:spPr>
          <a:xfrm>
            <a:off x="3822192" y="2468880"/>
            <a:ext cx="1499616" cy="1737360"/>
          </a:xfrm>
          <a:prstGeom prst="roundRect">
            <a:avLst>
              <a:gd name="adj" fmla="val 6098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tep-n2"/>
          <p:cNvSpPr txBox="1"/>
          <p:nvPr/>
        </p:nvSpPr>
        <p:spPr>
          <a:xfrm>
            <a:off x="3959352" y="257860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bg1"/>
                </a:solidFill>
              </a:rPr>
              <a:t>3</a:t>
            </a:r>
            <a:endParaRPr lang="en-US" sz="2400" dirty="0"/>
          </a:p>
        </p:txBody>
      </p:sp>
      <p:sp>
        <p:nvSpPr>
          <p:cNvPr id="12" name="step-t2"/>
          <p:cNvSpPr txBox="1"/>
          <p:nvPr/>
        </p:nvSpPr>
        <p:spPr>
          <a:xfrm>
            <a:off x="3959352" y="3017520"/>
            <a:ext cx="1234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bg1"/>
                </a:solidFill>
              </a:rPr>
              <a:t>Implementasi</a:t>
            </a:r>
            <a:endParaRPr lang="en-US" sz="1400" dirty="0"/>
          </a:p>
        </p:txBody>
      </p:sp>
      <p:sp>
        <p:nvSpPr>
          <p:cNvPr id="13" name="step3"/>
          <p:cNvSpPr/>
          <p:nvPr/>
        </p:nvSpPr>
        <p:spPr>
          <a:xfrm>
            <a:off x="5458968" y="2148840"/>
            <a:ext cx="1499616" cy="2057400"/>
          </a:xfrm>
          <a:prstGeom prst="roundRect">
            <a:avLst>
              <a:gd name="adj" fmla="val 6098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tep-n3"/>
          <p:cNvSpPr txBox="1"/>
          <p:nvPr/>
        </p:nvSpPr>
        <p:spPr>
          <a:xfrm>
            <a:off x="5596128" y="225856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bg1"/>
                </a:solidFill>
              </a:rPr>
              <a:t>4</a:t>
            </a:r>
            <a:endParaRPr lang="en-US" sz="2400" dirty="0"/>
          </a:p>
        </p:txBody>
      </p:sp>
      <p:sp>
        <p:nvSpPr>
          <p:cNvPr id="15" name="step-t3"/>
          <p:cNvSpPr txBox="1"/>
          <p:nvPr/>
        </p:nvSpPr>
        <p:spPr>
          <a:xfrm>
            <a:off x="5596128" y="2697480"/>
            <a:ext cx="1234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bg1"/>
                </a:solidFill>
              </a:rPr>
              <a:t>Pengujian</a:t>
            </a:r>
            <a:endParaRPr lang="en-US" sz="1400" dirty="0"/>
          </a:p>
        </p:txBody>
      </p:sp>
      <p:sp>
        <p:nvSpPr>
          <p:cNvPr id="16" name="step4"/>
          <p:cNvSpPr/>
          <p:nvPr/>
        </p:nvSpPr>
        <p:spPr>
          <a:xfrm>
            <a:off x="7095744" y="1828800"/>
            <a:ext cx="1499616" cy="2377440"/>
          </a:xfrm>
          <a:prstGeom prst="roundRect">
            <a:avLst>
              <a:gd name="adj" fmla="val 6098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tep-n4"/>
          <p:cNvSpPr txBox="1"/>
          <p:nvPr/>
        </p:nvSpPr>
        <p:spPr>
          <a:xfrm>
            <a:off x="7232904" y="193852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2"/>
                </a:solidFill>
              </a:rPr>
              <a:t>5</a:t>
            </a:r>
            <a:endParaRPr lang="en-US" sz="2400" dirty="0"/>
          </a:p>
        </p:txBody>
      </p:sp>
      <p:sp>
        <p:nvSpPr>
          <p:cNvPr id="18" name="step-t4"/>
          <p:cNvSpPr txBox="1"/>
          <p:nvPr/>
        </p:nvSpPr>
        <p:spPr>
          <a:xfrm>
            <a:off x="7232904" y="2377440"/>
            <a:ext cx="12344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tx2"/>
                </a:solidFill>
              </a:rPr>
              <a:t>Deployment dan pemeliharaan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Praktikum Hari Ini</a:t>
            </a:r>
            <a:endParaRPr lang="en-US" sz="3400" dirty="0"/>
          </a:p>
        </p:txBody>
      </p:sp>
      <p:sp>
        <p:nvSpPr>
          <p:cNvPr id="4" name="prak0-circle"/>
          <p:cNvSpPr/>
          <p:nvPr/>
        </p:nvSpPr>
        <p:spPr>
          <a:xfrm>
            <a:off x="548640" y="12801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prak0-num"/>
          <p:cNvSpPr txBox="1"/>
          <p:nvPr/>
        </p:nvSpPr>
        <p:spPr>
          <a:xfrm>
            <a:off x="54864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prak-t0"/>
          <p:cNvSpPr txBox="1"/>
          <p:nvPr/>
        </p:nvSpPr>
        <p:spPr>
          <a:xfrm>
            <a:off x="1188720" y="12801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chemeClr val="tx1"/>
                </a:solidFill>
              </a:rPr>
              <a:t>Memasang Laragon dan memverifikasi PHP, MySQL</a:t>
            </a:r>
            <a:endParaRPr lang="en-US" sz="1600" dirty="0"/>
          </a:p>
        </p:txBody>
      </p:sp>
      <p:sp>
        <p:nvSpPr>
          <p:cNvPr id="7" name="prak1-circle"/>
          <p:cNvSpPr/>
          <p:nvPr/>
        </p:nvSpPr>
        <p:spPr>
          <a:xfrm>
            <a:off x="548640" y="19202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prak1-num"/>
          <p:cNvSpPr txBox="1"/>
          <p:nvPr/>
        </p:nvSpPr>
        <p:spPr>
          <a:xfrm>
            <a:off x="54864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prak-t1"/>
          <p:cNvSpPr txBox="1"/>
          <p:nvPr/>
        </p:nvSpPr>
        <p:spPr>
          <a:xfrm>
            <a:off x="1188720" y="19202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chemeClr val="tx1"/>
                </a:solidFill>
              </a:rPr>
              <a:t>Memasang VS Code beserta ekstensi</a:t>
            </a:r>
            <a:endParaRPr lang="en-US" sz="1600" dirty="0"/>
          </a:p>
        </p:txBody>
      </p:sp>
      <p:sp>
        <p:nvSpPr>
          <p:cNvPr id="10" name="prak2-circle"/>
          <p:cNvSpPr/>
          <p:nvPr/>
        </p:nvSpPr>
        <p:spPr>
          <a:xfrm>
            <a:off x="548640" y="25603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prak2-num"/>
          <p:cNvSpPr txBox="1"/>
          <p:nvPr/>
        </p:nvSpPr>
        <p:spPr>
          <a:xfrm>
            <a:off x="54864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2" name="prak-t2"/>
          <p:cNvSpPr txBox="1"/>
          <p:nvPr/>
        </p:nvSpPr>
        <p:spPr>
          <a:xfrm>
            <a:off x="1188720" y="25603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chemeClr val="tx1"/>
                </a:solidFill>
              </a:rPr>
              <a:t>Membuat halaman statis dan dinamis</a:t>
            </a:r>
            <a:endParaRPr lang="en-US" sz="1600" dirty="0"/>
          </a:p>
        </p:txBody>
      </p:sp>
      <p:sp>
        <p:nvSpPr>
          <p:cNvPr id="13" name="prak3-circle"/>
          <p:cNvSpPr/>
          <p:nvPr/>
        </p:nvSpPr>
        <p:spPr>
          <a:xfrm>
            <a:off x="548640" y="32004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prak3-num"/>
          <p:cNvSpPr txBox="1"/>
          <p:nvPr/>
        </p:nvSpPr>
        <p:spPr>
          <a:xfrm>
            <a:off x="54864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5" name="prak-t3"/>
          <p:cNvSpPr txBox="1"/>
          <p:nvPr/>
        </p:nvSpPr>
        <p:spPr>
          <a:xfrm>
            <a:off x="1188720" y="32004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chemeClr val="tx1"/>
                </a:solidFill>
              </a:rPr>
              <a:t>Mengamati HTTP di DevTools</a:t>
            </a:r>
            <a:endParaRPr lang="en-US" sz="1600" dirty="0"/>
          </a:p>
        </p:txBody>
      </p:sp>
      <p:sp>
        <p:nvSpPr>
          <p:cNvPr id="16" name="prak4-circle"/>
          <p:cNvSpPr/>
          <p:nvPr/>
        </p:nvSpPr>
        <p:spPr>
          <a:xfrm>
            <a:off x="548640" y="38404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prak4-num"/>
          <p:cNvSpPr txBox="1"/>
          <p:nvPr/>
        </p:nvSpPr>
        <p:spPr>
          <a:xfrm>
            <a:off x="54864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18" name="prak-t4"/>
          <p:cNvSpPr txBox="1"/>
          <p:nvPr/>
        </p:nvSpPr>
        <p:spPr>
          <a:xfrm>
            <a:off x="1188720" y="384048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chemeClr val="tx1"/>
                </a:solidFill>
              </a:rPr>
              <a:t>Git dan repositori pertama di GitHub</a:t>
            </a:r>
            <a:endParaRPr lang="en-US" sz="1600" dirty="0"/>
          </a:p>
        </p:txBody>
      </p:sp>
      <p:sp>
        <p:nvSpPr>
          <p:cNvPr id="19" name="stat-card"/>
          <p:cNvSpPr/>
          <p:nvPr/>
        </p:nvSpPr>
        <p:spPr>
          <a:xfrm>
            <a:off x="6035040" y="1280160"/>
            <a:ext cx="2560320" cy="3017520"/>
          </a:xfrm>
          <a:prstGeom prst="roundRect">
            <a:avLst>
              <a:gd name="adj" fmla="val 428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tat-n"/>
          <p:cNvSpPr txBox="1"/>
          <p:nvPr/>
        </p:nvSpPr>
        <p:spPr>
          <a:xfrm>
            <a:off x="6035040" y="155448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7200" dirty="0"/>
          </a:p>
        </p:txBody>
      </p:sp>
      <p:sp>
        <p:nvSpPr>
          <p:cNvPr id="21" name="stat-l"/>
          <p:cNvSpPr txBox="1"/>
          <p:nvPr/>
        </p:nvSpPr>
        <p:spPr>
          <a:xfrm>
            <a:off x="6035040" y="2743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dirty="0">
                <a:solidFill>
                  <a:schemeClr val="bg1"/>
                </a:solidFill>
              </a:rPr>
              <a:t>praktikum</a:t>
            </a:r>
            <a:endParaRPr lang="en-US" sz="1800" dirty="0"/>
          </a:p>
        </p:txBody>
      </p:sp>
      <p:sp>
        <p:nvSpPr>
          <p:cNvPr id="22" name="stat-t"/>
          <p:cNvSpPr txBox="1"/>
          <p:nvPr/>
        </p:nvSpPr>
        <p:spPr>
          <a:xfrm>
            <a:off x="6035040" y="32918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</a:rPr>
              <a:t>± 150 menit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137160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</a:rPr>
              <a:t>Rangkuman</a:t>
            </a:r>
            <a:endParaRPr lang="en-US" sz="4000" dirty="0"/>
          </a:p>
        </p:txBody>
      </p:sp>
      <p:sp>
        <p:nvSpPr>
          <p:cNvPr id="3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640" y="301752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chemeClr val="bg2"/>
                </a:solidFill>
              </a:rPr>
              <a:t>Berikutnya, Pertemuan 2: HTML5 dan struktur halaman web</a:t>
            </a:r>
            <a:endParaRPr lang="en-US" sz="1600" dirty="0"/>
          </a:p>
        </p:txBody>
      </p:sp>
      <p:sp>
        <p:nvSpPr>
          <p:cNvPr id="4" name="sum-card0"/>
          <p:cNvSpPr/>
          <p:nvPr/>
        </p:nvSpPr>
        <p:spPr>
          <a:xfrm>
            <a:off x="5577840" y="1097280"/>
            <a:ext cx="3108960" cy="640080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um-t0"/>
          <p:cNvSpPr txBox="1"/>
          <p:nvPr/>
        </p:nvSpPr>
        <p:spPr>
          <a:xfrm>
            <a:off x="5760720" y="10972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bg1"/>
                </a:solidFill>
              </a:rPr>
              <a:t>Web adalah layanan di atas internet</a:t>
            </a:r>
            <a:endParaRPr lang="en-US" sz="1400" dirty="0"/>
          </a:p>
        </p:txBody>
      </p:sp>
      <p:sp>
        <p:nvSpPr>
          <p:cNvPr id="6" name="sum-card1"/>
          <p:cNvSpPr/>
          <p:nvPr/>
        </p:nvSpPr>
        <p:spPr>
          <a:xfrm>
            <a:off x="5577840" y="1874520"/>
            <a:ext cx="3108960" cy="640080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um-t1"/>
          <p:cNvSpPr txBox="1"/>
          <p:nvPr/>
        </p:nvSpPr>
        <p:spPr>
          <a:xfrm>
            <a:off x="5760720" y="18745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bg1"/>
                </a:solidFill>
              </a:rPr>
              <a:t>Browser meminta, server menjawab lewat HTTP</a:t>
            </a:r>
            <a:endParaRPr lang="en-US" sz="1400" dirty="0"/>
          </a:p>
        </p:txBody>
      </p:sp>
      <p:sp>
        <p:nvSpPr>
          <p:cNvPr id="8" name="sum-card2"/>
          <p:cNvSpPr/>
          <p:nvPr/>
        </p:nvSpPr>
        <p:spPr>
          <a:xfrm>
            <a:off x="5577840" y="2651760"/>
            <a:ext cx="3108960" cy="640080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um-t2"/>
          <p:cNvSpPr txBox="1"/>
          <p:nvPr/>
        </p:nvSpPr>
        <p:spPr>
          <a:xfrm>
            <a:off x="5760720" y="26517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bg1"/>
                </a:solidFill>
              </a:rPr>
              <a:t>Web dinamis dibangkitkan oleh server</a:t>
            </a:r>
            <a:endParaRPr lang="en-US" sz="1400" dirty="0"/>
          </a:p>
        </p:txBody>
      </p:sp>
      <p:sp>
        <p:nvSpPr>
          <p:cNvPr id="10" name="sum-card3"/>
          <p:cNvSpPr/>
          <p:nvPr/>
        </p:nvSpPr>
        <p:spPr>
          <a:xfrm>
            <a:off x="5577840" y="3429000"/>
            <a:ext cx="3108960" cy="640080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um-t3"/>
          <p:cNvSpPr txBox="1"/>
          <p:nvPr/>
        </p:nvSpPr>
        <p:spPr>
          <a:xfrm>
            <a:off x="5760720" y="34290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bg1"/>
                </a:solidFill>
              </a:rPr>
              <a:t>Siapkan lingkungan kerja sebelum lanjut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emweb">
  <a:themeElements>
    <a:clrScheme name="Pemweb">
      <a:dk1>
        <a:srgbClr val="1F2933"/>
      </a:dk1>
      <a:lt1>
        <a:srgbClr val="FFFFFF"/>
      </a:lt1>
      <a:dk2>
        <a:srgbClr val="10243E"/>
      </a:dk2>
      <a:lt2>
        <a:srgbClr val="EAF3F6"/>
      </a:lt2>
      <a:accent1>
        <a:srgbClr val="0E7C86"/>
      </a:accent1>
      <a:accent2>
        <a:srgbClr val="F2A541"/>
      </a:accent2>
      <a:accent3>
        <a:srgbClr val="3F6FB5"/>
      </a:accent3>
      <a:accent4>
        <a:srgbClr val="D1495B"/>
      </a:accent4>
      <a:accent5>
        <a:srgbClr val="5E8C3A"/>
      </a:accent5>
      <a:accent6>
        <a:srgbClr val="7A5C99"/>
      </a:accent6>
      <a:hlink>
        <a:srgbClr val="0E7C86"/>
      </a:hlink>
      <a:folHlink>
        <a:srgbClr val="7A5C99"/>
      </a:folHlink>
    </a:clrScheme>
    <a:fontScheme name="Pemweb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585</TotalTime>
  <Words>885</Words>
  <Application>Microsoft Macintosh PowerPoint</Application>
  <PresentationFormat>On-screen Show (16:9)</PresentationFormat>
  <Paragraphs>200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Cambria</vt:lpstr>
      <vt:lpstr>Courier New</vt:lpstr>
      <vt:lpstr>Pemweb</vt:lpstr>
      <vt:lpstr>Pengantar Pemrograman Web</vt:lpstr>
      <vt:lpstr>Capaian Pembelajaran</vt:lpstr>
      <vt:lpstr>Internet vs Web</vt:lpstr>
      <vt:lpstr>Sejarah Singkat Web</vt:lpstr>
      <vt:lpstr>Arsitektur Client-Server</vt:lpstr>
      <vt:lpstr>Alur Satu Permintaan Web</vt:lpstr>
      <vt:lpstr>HTTP Request dan Response</vt:lpstr>
      <vt:lpstr>Metode HTTP dan Kode Status</vt:lpstr>
      <vt:lpstr>Web Statis vs Web Dinamis</vt:lpstr>
      <vt:lpstr>Front-end dan Back-end</vt:lpstr>
      <vt:lpstr>Lingkungan Pengembangan</vt:lpstr>
      <vt:lpstr>Siklus Pengembangan Web</vt:lpstr>
      <vt:lpstr>Praktikum Hari Ini</vt:lpstr>
      <vt:lpstr>Rangkuman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Pemrograman Web - Pertemuan 1</dc:title>
  <dc:subject>PptxGenJS Presentation</dc:subject>
  <dc:creator>PptxGenJS</dc:creator>
  <cp:lastModifiedBy>office49089</cp:lastModifiedBy>
  <cp:revision>3</cp:revision>
  <dcterms:created xsi:type="dcterms:W3CDTF">2026-10-16T23:25:46Z</dcterms:created>
  <dcterms:modified xsi:type="dcterms:W3CDTF">2026-10-17T14:26:17Z</dcterms:modified>
</cp:coreProperties>
</file>